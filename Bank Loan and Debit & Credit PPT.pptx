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8" r:id="rId5"/>
    <p:sldId id="283" r:id="rId6"/>
    <p:sldId id="284" r:id="rId7"/>
    <p:sldId id="299" r:id="rId8"/>
    <p:sldId id="304" r:id="rId9"/>
    <p:sldId id="300" r:id="rId10"/>
    <p:sldId id="305" r:id="rId11"/>
    <p:sldId id="301" r:id="rId12"/>
    <p:sldId id="306" r:id="rId13"/>
    <p:sldId id="303" r:id="rId14"/>
    <p:sldId id="307" r:id="rId15"/>
    <p:sldId id="308" r:id="rId16"/>
    <p:sldId id="30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06251F-175E-48C5-8BBB-F66AE9DAEBB4}">
          <p14:sldIdLst>
            <p14:sldId id="298"/>
            <p14:sldId id="283"/>
            <p14:sldId id="284"/>
            <p14:sldId id="299"/>
            <p14:sldId id="304"/>
            <p14:sldId id="300"/>
            <p14:sldId id="305"/>
            <p14:sldId id="301"/>
            <p14:sldId id="306"/>
            <p14:sldId id="303"/>
            <p14:sldId id="307"/>
            <p14:sldId id="308"/>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12" autoAdjust="0"/>
  </p:normalViewPr>
  <p:slideViewPr>
    <p:cSldViewPr snapToGrid="0">
      <p:cViewPr varScale="1">
        <p:scale>
          <a:sx n="75" d="100"/>
          <a:sy n="75" d="100"/>
        </p:scale>
        <p:origin x="248" y="36"/>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esktop\Project%201\Bank%20Loan%20Data%20Analytics(excel%20dashboard).xlsm"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esktop\Project%201\Bank%20Loan%20Data%20Analytics(excel%20dashboard).xlsm"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esktop\Project%201\Bank%20Loan%20Data%20Analytics(excel%20dashboard).xlsm"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[Bank Loan Data Analytics(excel dashboard).xlsm]gender wise analysis!PivotTable6</c:name>
    <c:fmtId val="28"/>
  </c:pivotSource>
  <c:chart>
    <c:title>
      <c:tx>
        <c:rich>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r>
              <a:rPr lang="en-US" sz="1600" b="1" dirty="0"/>
              <a:t>Gender wise Analysis</a:t>
            </a:r>
          </a:p>
        </c:rich>
      </c:tx>
      <c:layout>
        <c:manualLayout>
          <c:xMode val="edge"/>
          <c:yMode val="edge"/>
          <c:x val="0.30641814673114487"/>
          <c:y val="1.457265346391522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pivotFmt>
      <c:pivotFmt>
        <c:idx val="4"/>
        <c:spPr>
          <a:solidFill>
            <a:schemeClr val="accent6"/>
          </a:solidFill>
          <a:ln>
            <a:noFill/>
          </a:ln>
          <a:effectLst/>
        </c:spPr>
      </c:pivotFmt>
      <c:pivotFmt>
        <c:idx val="5"/>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6"/>
        <c:spPr>
          <a:solidFill>
            <a:schemeClr val="accent6">
              <a:lumMod val="75000"/>
            </a:schemeClr>
          </a:solidFill>
          <a:ln>
            <a:noFill/>
          </a:ln>
          <a:effectLst/>
        </c:spPr>
        <c:dLbl>
          <c:idx val="0"/>
          <c:layout>
            <c:manualLayout>
              <c:x val="0"/>
              <c:y val="4.3017363319015282E-2"/>
            </c:manualLayout>
          </c:layout>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33579491138114542"/>
                  <c:h val="0.16799501392151178"/>
                </c:manualLayout>
              </c15:layout>
            </c:ext>
          </c:extLst>
        </c:dLbl>
      </c:pivotFmt>
      <c:pivotFmt>
        <c:idx val="7"/>
        <c:spPr>
          <a:solidFill>
            <a:schemeClr val="accent6">
              <a:lumMod val="75000"/>
            </a:schemeClr>
          </a:solidFill>
          <a:ln>
            <a:noFill/>
          </a:ln>
          <a:effectLst/>
        </c:spP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26721844043688087"/>
                  <c:h val="0.21523369735937262"/>
                </c:manualLayout>
              </c15:layout>
            </c:ext>
          </c:extLst>
        </c:dLbl>
      </c:pivotFmt>
      <c:pivotFmt>
        <c:idx val="8"/>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9"/>
        <c:spPr>
          <a:solidFill>
            <a:schemeClr val="accent6">
              <a:lumMod val="75000"/>
            </a:schemeClr>
          </a:solidFill>
          <a:ln>
            <a:noFill/>
          </a:ln>
          <a:effectLst/>
        </c:spPr>
        <c:dLbl>
          <c:idx val="0"/>
          <c:layout>
            <c:manualLayout>
              <c:x val="0"/>
              <c:y val="4.3017363319015282E-2"/>
            </c:manualLayout>
          </c:layout>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33579491138114542"/>
                  <c:h val="0.16799501392151178"/>
                </c:manualLayout>
              </c15:layout>
            </c:ext>
          </c:extLst>
        </c:dLbl>
      </c:pivotFmt>
      <c:pivotFmt>
        <c:idx val="10"/>
        <c:spPr>
          <a:solidFill>
            <a:schemeClr val="accent6">
              <a:lumMod val="75000"/>
            </a:schemeClr>
          </a:solidFill>
          <a:ln>
            <a:noFill/>
          </a:ln>
          <a:effectLst/>
        </c:spP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26721844043688087"/>
                  <c:h val="0.21523369735937262"/>
                </c:manualLayout>
              </c15:layout>
            </c:ext>
          </c:extLst>
        </c:dLbl>
      </c:pivotFmt>
      <c:pivotFmt>
        <c:idx val="11"/>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2"/>
        <c:spPr>
          <a:solidFill>
            <a:schemeClr val="accent6">
              <a:lumMod val="75000"/>
            </a:schemeClr>
          </a:solidFill>
          <a:ln>
            <a:noFill/>
          </a:ln>
          <a:effectLst/>
        </c:spPr>
        <c:dLbl>
          <c:idx val="0"/>
          <c:layout>
            <c:manualLayout>
              <c:x val="0"/>
              <c:y val="4.3017363319015282E-2"/>
            </c:manualLayout>
          </c:layout>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33579491138114542"/>
                  <c:h val="0.16799501392151178"/>
                </c:manualLayout>
              </c15:layout>
            </c:ext>
          </c:extLst>
        </c:dLbl>
      </c:pivotFmt>
      <c:pivotFmt>
        <c:idx val="13"/>
        <c:spPr>
          <a:solidFill>
            <a:schemeClr val="accent6">
              <a:lumMod val="75000"/>
            </a:schemeClr>
          </a:solidFill>
          <a:ln>
            <a:noFill/>
          </a:ln>
          <a:effectLst/>
        </c:spPr>
        <c:dLbl>
          <c:idx val="0"/>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layout>
                <c:manualLayout>
                  <c:w val="0.26721844043688087"/>
                  <c:h val="0.21523369735937262"/>
                </c:manualLayout>
              </c15:layout>
            </c:ext>
          </c:extLst>
        </c:dLbl>
      </c:pivotFmt>
    </c:pivotFmts>
    <c:plotArea>
      <c:layout>
        <c:manualLayout>
          <c:layoutTarget val="inner"/>
          <c:xMode val="edge"/>
          <c:yMode val="edge"/>
          <c:x val="5.9161804561022054E-2"/>
          <c:y val="0.18026993765975802"/>
          <c:w val="0.88167630040667944"/>
          <c:h val="0.69350486289580515"/>
        </c:manualLayout>
      </c:layout>
      <c:barChart>
        <c:barDir val="col"/>
        <c:grouping val="clustered"/>
        <c:varyColors val="0"/>
        <c:ser>
          <c:idx val="0"/>
          <c:order val="0"/>
          <c:tx>
            <c:strRef>
              <c:f>'gender wise analysis'!$B$1</c:f>
              <c:strCache>
                <c:ptCount val="1"/>
                <c:pt idx="0">
                  <c:v>Total</c:v>
                </c:pt>
              </c:strCache>
            </c:strRef>
          </c:tx>
          <c:spPr>
            <a:solidFill>
              <a:schemeClr val="accent3">
                <a:lumMod val="50000"/>
              </a:schemeClr>
            </a:solidFill>
            <a:ln>
              <a:noFill/>
            </a:ln>
            <a:effectLst>
              <a:innerShdw blurRad="114300">
                <a:prstClr val="black"/>
              </a:innerShdw>
            </a:effectLst>
          </c:spPr>
          <c:invertIfNegative val="0"/>
          <c:dPt>
            <c:idx val="0"/>
            <c:invertIfNegative val="0"/>
            <c:bubble3D val="0"/>
            <c:spPr>
              <a:solidFill>
                <a:schemeClr val="accent3">
                  <a:lumMod val="50000"/>
                </a:schemeClr>
              </a:solidFill>
              <a:ln>
                <a:noFill/>
              </a:ln>
              <a:effectLst>
                <a:innerShdw blurRad="114300">
                  <a:prstClr val="black"/>
                </a:innerShdw>
              </a:effectLst>
            </c:spPr>
            <c:extLst>
              <c:ext xmlns:c16="http://schemas.microsoft.com/office/drawing/2014/chart" uri="{C3380CC4-5D6E-409C-BE32-E72D297353CC}">
                <c16:uniqueId val="{00000001-81F1-4654-B57D-E4AB1639A62A}"/>
              </c:ext>
            </c:extLst>
          </c:dPt>
          <c:dPt>
            <c:idx val="1"/>
            <c:invertIfNegative val="0"/>
            <c:bubble3D val="0"/>
            <c:spPr>
              <a:solidFill>
                <a:schemeClr val="accent3">
                  <a:lumMod val="50000"/>
                </a:schemeClr>
              </a:solidFill>
              <a:ln>
                <a:noFill/>
              </a:ln>
              <a:effectLst>
                <a:innerShdw blurRad="114300">
                  <a:prstClr val="black"/>
                </a:innerShdw>
              </a:effectLst>
            </c:spPr>
            <c:extLst>
              <c:ext xmlns:c16="http://schemas.microsoft.com/office/drawing/2014/chart" uri="{C3380CC4-5D6E-409C-BE32-E72D297353CC}">
                <c16:uniqueId val="{00000003-81F1-4654-B57D-E4AB1639A62A}"/>
              </c:ext>
            </c:extLst>
          </c:dPt>
          <c:dLbls>
            <c:dLbl>
              <c:idx val="0"/>
              <c:layout>
                <c:manualLayout>
                  <c:x val="0"/>
                  <c:y val="4.3017363319015282E-2"/>
                </c:manualLayout>
              </c:layout>
              <c:showLegendKey val="0"/>
              <c:showVal val="1"/>
              <c:showCatName val="0"/>
              <c:showSerName val="0"/>
              <c:showPercent val="0"/>
              <c:showBubbleSize val="0"/>
              <c:extLst>
                <c:ext xmlns:c15="http://schemas.microsoft.com/office/drawing/2012/chart" uri="{CE6537A1-D6FC-4f65-9D91-7224C49458BB}">
                  <c15:layout>
                    <c:manualLayout>
                      <c:w val="0.33579491138114542"/>
                      <c:h val="0.16799501392151178"/>
                    </c:manualLayout>
                  </c15:layout>
                </c:ext>
                <c:ext xmlns:c16="http://schemas.microsoft.com/office/drawing/2014/chart" uri="{C3380CC4-5D6E-409C-BE32-E72D297353CC}">
                  <c16:uniqueId val="{00000001-81F1-4654-B57D-E4AB1639A62A}"/>
                </c:ext>
              </c:extLst>
            </c:dLbl>
            <c:dLbl>
              <c:idx val="1"/>
              <c:showLegendKey val="0"/>
              <c:showVal val="1"/>
              <c:showCatName val="0"/>
              <c:showSerName val="0"/>
              <c:showPercent val="0"/>
              <c:showBubbleSize val="0"/>
              <c:extLst>
                <c:ext xmlns:c15="http://schemas.microsoft.com/office/drawing/2012/chart" uri="{CE6537A1-D6FC-4f65-9D91-7224C49458BB}">
                  <c15:layout>
                    <c:manualLayout>
                      <c:w val="0.26721844043688087"/>
                      <c:h val="0.21523369735937262"/>
                    </c:manualLayout>
                  </c15:layout>
                </c:ext>
                <c:ext xmlns:c16="http://schemas.microsoft.com/office/drawing/2014/chart" uri="{C3380CC4-5D6E-409C-BE32-E72D297353CC}">
                  <c16:uniqueId val="{00000003-81F1-4654-B57D-E4AB1639A62A}"/>
                </c:ext>
              </c:extLst>
            </c:dLbl>
            <c:numFmt formatCode="0.00,,&quot;M&quot;" sourceLinked="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prstDash val="solid"/>
                      <a:round/>
                    </a:ln>
                    <a:effectLst/>
                  </c:spPr>
                </c15:leaderLines>
              </c:ext>
            </c:extLst>
          </c:dLbls>
          <c:cat>
            <c:strRef>
              <c:f>'gender wise analysis'!$A$2:$A$4</c:f>
              <c:strCache>
                <c:ptCount val="2"/>
                <c:pt idx="0">
                  <c:v>Female</c:v>
                </c:pt>
                <c:pt idx="1">
                  <c:v>Male</c:v>
                </c:pt>
              </c:strCache>
            </c:strRef>
          </c:cat>
          <c:val>
            <c:numRef>
              <c:f>'gender wise analysis'!$B$2:$B$4</c:f>
              <c:numCache>
                <c:formatCode>0.00</c:formatCode>
                <c:ptCount val="2"/>
                <c:pt idx="0">
                  <c:v>750693975</c:v>
                </c:pt>
                <c:pt idx="1">
                  <c:v>273525</c:v>
                </c:pt>
              </c:numCache>
            </c:numRef>
          </c:val>
          <c:extLst>
            <c:ext xmlns:c16="http://schemas.microsoft.com/office/drawing/2014/chart" uri="{C3380CC4-5D6E-409C-BE32-E72D297353CC}">
              <c16:uniqueId val="{00000004-81F1-4654-B57D-E4AB1639A62A}"/>
            </c:ext>
          </c:extLst>
        </c:ser>
        <c:dLbls>
          <c:showLegendKey val="0"/>
          <c:showVal val="0"/>
          <c:showCatName val="0"/>
          <c:showSerName val="0"/>
          <c:showPercent val="0"/>
          <c:showBubbleSize val="0"/>
        </c:dLbls>
        <c:gapWidth val="100"/>
        <c:axId val="61647840"/>
        <c:axId val="61645920"/>
      </c:barChart>
      <c:catAx>
        <c:axId val="61647840"/>
        <c:scaling>
          <c:orientation val="minMax"/>
        </c:scaling>
        <c:delete val="0"/>
        <c:axPos val="b"/>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crossAx val="61645920"/>
        <c:crosses val="autoZero"/>
        <c:auto val="1"/>
        <c:lblAlgn val="ctr"/>
        <c:lblOffset val="100"/>
        <c:noMultiLvlLbl val="0"/>
      </c:catAx>
      <c:valAx>
        <c:axId val="61645920"/>
        <c:scaling>
          <c:orientation val="minMax"/>
        </c:scaling>
        <c:delete val="1"/>
        <c:axPos val="l"/>
        <c:numFmt formatCode="0.00,,&quot;M&quot;" sourceLinked="0"/>
        <c:majorTickMark val="out"/>
        <c:minorTickMark val="none"/>
        <c:tickLblPos val="nextTo"/>
        <c:crossAx val="61647840"/>
        <c:crosses val="autoZero"/>
        <c:crossBetween val="between"/>
      </c:valAx>
      <c:spPr>
        <a:noFill/>
        <a:ln>
          <a:noFill/>
        </a:ln>
        <a:effectLst>
          <a:innerShdw blurRad="63500" dist="50800" dir="18900000">
            <a:prstClr val="black">
              <a:alpha val="50000"/>
            </a:prstClr>
          </a:innerShdw>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threePt" dir="t"/>
    </a:scene3d>
    <a:sp3d prstMaterial="matte">
      <a:bevelT w="63500" h="63500" prst="artDeco"/>
      <a:contourClr>
        <a:srgbClr val="000000"/>
      </a:contourClr>
    </a:sp3d>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[Bank Loan Data Analytics(excel dashboard).xlsm]state wise analysis!PivotTable8</c:name>
    <c:fmtId val="37"/>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sz="1600" b="1" dirty="0"/>
              <a:t>State wise Analysis</a:t>
            </a:r>
          </a:p>
        </c:rich>
      </c:tx>
      <c:layout>
        <c:manualLayout>
          <c:xMode val="edge"/>
          <c:yMode val="edge"/>
          <c:x val="0.31001628054903047"/>
          <c:y val="1.8913763184128587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lumMod val="75000"/>
            </a:schemeClr>
          </a:solidFill>
          <a:ln>
            <a:noFill/>
          </a:ln>
          <a:effectLst/>
        </c:spPr>
        <c:marker>
          <c:symbol val="none"/>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497910042543546"/>
          <c:y val="0.1266596925651976"/>
          <c:w val="0.76520221290504864"/>
          <c:h val="0.83829897267049902"/>
        </c:manualLayout>
      </c:layout>
      <c:barChart>
        <c:barDir val="bar"/>
        <c:grouping val="clustered"/>
        <c:varyColors val="0"/>
        <c:ser>
          <c:idx val="0"/>
          <c:order val="0"/>
          <c:tx>
            <c:strRef>
              <c:f>'state wise analysis'!$B$1</c:f>
              <c:strCache>
                <c:ptCount val="1"/>
                <c:pt idx="0">
                  <c:v>Total</c:v>
                </c:pt>
              </c:strCache>
            </c:strRef>
          </c:tx>
          <c:spPr>
            <a:solidFill>
              <a:schemeClr val="accent3">
                <a:lumMod val="50000"/>
              </a:schemeClr>
            </a:solidFill>
            <a:ln>
              <a:noFill/>
            </a:ln>
            <a:effectLst>
              <a:outerShdw blurRad="63500" sx="102000" sy="102000" algn="ctr" rotWithShape="0">
                <a:prstClr val="black">
                  <a:alpha val="40000"/>
                </a:prstClr>
              </a:outerShdw>
            </a:effectLst>
          </c:spPr>
          <c:invertIfNegative val="0"/>
          <c:dLbls>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'state wise analysis'!$A$2:$A$18</c:f>
              <c:strCache>
                <c:ptCount val="16"/>
                <c:pt idx="0">
                  <c:v>TRIPURA</c:v>
                </c:pt>
                <c:pt idx="1">
                  <c:v>MADHYA PRADESH</c:v>
                </c:pt>
                <c:pt idx="2">
                  <c:v>HIMACHAL PRADESH</c:v>
                </c:pt>
                <c:pt idx="3">
                  <c:v>JHARKHAND</c:v>
                </c:pt>
                <c:pt idx="4">
                  <c:v>JAMMU &amp; KASHMIR</c:v>
                </c:pt>
                <c:pt idx="5">
                  <c:v>UTTARAKHAND</c:v>
                </c:pt>
                <c:pt idx="6">
                  <c:v>CHATTISGARH</c:v>
                </c:pt>
                <c:pt idx="7">
                  <c:v>WEST BENGAL</c:v>
                </c:pt>
                <c:pt idx="8">
                  <c:v>ASSAM</c:v>
                </c:pt>
                <c:pt idx="9">
                  <c:v>ODISHA</c:v>
                </c:pt>
                <c:pt idx="10">
                  <c:v>State Name</c:v>
                </c:pt>
                <c:pt idx="11">
                  <c:v>RAJASTHAN</c:v>
                </c:pt>
                <c:pt idx="12">
                  <c:v>HARYANA</c:v>
                </c:pt>
                <c:pt idx="13">
                  <c:v>BIHAR</c:v>
                </c:pt>
                <c:pt idx="14">
                  <c:v>PUNJAB</c:v>
                </c:pt>
                <c:pt idx="15">
                  <c:v>UTTAR PRADESH</c:v>
                </c:pt>
              </c:strCache>
            </c:strRef>
          </c:cat>
          <c:val>
            <c:numRef>
              <c:f>'state wise analysis'!$B$2:$B$18</c:f>
              <c:numCache>
                <c:formatCode>0.00</c:formatCode>
                <c:ptCount val="16"/>
                <c:pt idx="0">
                  <c:v>15000</c:v>
                </c:pt>
                <c:pt idx="1">
                  <c:v>100950</c:v>
                </c:pt>
                <c:pt idx="2">
                  <c:v>2696775</c:v>
                </c:pt>
                <c:pt idx="3">
                  <c:v>3480350</c:v>
                </c:pt>
                <c:pt idx="4">
                  <c:v>4830325</c:v>
                </c:pt>
                <c:pt idx="5">
                  <c:v>22089900</c:v>
                </c:pt>
                <c:pt idx="6">
                  <c:v>30650425</c:v>
                </c:pt>
                <c:pt idx="7">
                  <c:v>39645275</c:v>
                </c:pt>
                <c:pt idx="8">
                  <c:v>45197250</c:v>
                </c:pt>
                <c:pt idx="9">
                  <c:v>47285800</c:v>
                </c:pt>
                <c:pt idx="10">
                  <c:v>54555075</c:v>
                </c:pt>
                <c:pt idx="11">
                  <c:v>67082825</c:v>
                </c:pt>
                <c:pt idx="12">
                  <c:v>80581250</c:v>
                </c:pt>
                <c:pt idx="13">
                  <c:v>95183725</c:v>
                </c:pt>
                <c:pt idx="14">
                  <c:v>119108325</c:v>
                </c:pt>
                <c:pt idx="15">
                  <c:v>138464250</c:v>
                </c:pt>
              </c:numCache>
            </c:numRef>
          </c:val>
          <c:extLst>
            <c:ext xmlns:c16="http://schemas.microsoft.com/office/drawing/2014/chart" uri="{C3380CC4-5D6E-409C-BE32-E72D297353CC}">
              <c16:uniqueId val="{00000000-650D-48C4-BA80-D05BFA1E4BE2}"/>
            </c:ext>
          </c:extLst>
        </c:ser>
        <c:dLbls>
          <c:dLblPos val="outEnd"/>
          <c:showLegendKey val="0"/>
          <c:showVal val="1"/>
          <c:showCatName val="0"/>
          <c:showSerName val="0"/>
          <c:showPercent val="0"/>
          <c:showBubbleSize val="0"/>
        </c:dLbls>
        <c:gapWidth val="182"/>
        <c:axId val="1064644160"/>
        <c:axId val="878147040"/>
      </c:barChart>
      <c:catAx>
        <c:axId val="106464416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878147040"/>
        <c:crosses val="autoZero"/>
        <c:auto val="1"/>
        <c:lblAlgn val="ctr"/>
        <c:lblOffset val="100"/>
        <c:noMultiLvlLbl val="0"/>
      </c:catAx>
      <c:valAx>
        <c:axId val="878147040"/>
        <c:scaling>
          <c:orientation val="minMax"/>
        </c:scaling>
        <c:delete val="1"/>
        <c:axPos val="b"/>
        <c:numFmt formatCode="0.00,,&quot;M&quot;" sourceLinked="0"/>
        <c:majorTickMark val="out"/>
        <c:minorTickMark val="none"/>
        <c:tickLblPos val="nextTo"/>
        <c:crossAx val="1064644160"/>
        <c:crosses val="autoZero"/>
        <c:crossBetween val="between"/>
      </c:valAx>
      <c:spPr>
        <a:noFill/>
        <a:ln>
          <a:noFill/>
        </a:ln>
        <a:effectLst>
          <a:innerShdw blurRad="63500" dist="50800" dir="18900000">
            <a:prstClr val="black">
              <a:alpha val="50000"/>
            </a:prstClr>
          </a:innerShdw>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threePt" dir="t"/>
    </a:scene3d>
    <a:sp3d prstMaterial="matte">
      <a:bevelT w="63500" h="63500" prst="artDeco"/>
      <a:contourClr>
        <a:srgbClr val="000000"/>
      </a:contourClr>
    </a:sp3d>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[Bank Loan Data Analytics(excel dashboard).xlsm]disbursement trend!PivotTable5</c:name>
    <c:fmtId val="22"/>
  </c:pivotSource>
  <c:chart>
    <c:title>
      <c:tx>
        <c:rich>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r>
              <a:rPr lang="en-US" dirty="0"/>
              <a:t>Disbursement Tread by Year</a:t>
            </a:r>
          </a:p>
        </c:rich>
      </c:tx>
      <c:layout>
        <c:manualLayout>
          <c:xMode val="edge"/>
          <c:yMode val="edge"/>
          <c:x val="0.24680510050104623"/>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pivotFmt>
      <c:pivotFmt>
        <c:idx val="2"/>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9651337656971655E-4"/>
          <c:y val="0.11388429177974302"/>
          <c:w val="0.98228432267176591"/>
          <c:h val="0.75534159619011132"/>
        </c:manualLayout>
      </c:layout>
      <c:lineChart>
        <c:grouping val="standard"/>
        <c:varyColors val="0"/>
        <c:ser>
          <c:idx val="0"/>
          <c:order val="0"/>
          <c:tx>
            <c:strRef>
              <c:f>'disbursement trend'!$B$1</c:f>
              <c:strCache>
                <c:ptCount val="1"/>
                <c:pt idx="0">
                  <c:v>Total</c:v>
                </c:pt>
              </c:strCache>
            </c:strRef>
          </c:tx>
          <c:spPr>
            <a:ln w="34925" cap="rnd">
              <a:solidFill>
                <a:schemeClr val="accent3">
                  <a:lumMod val="50000"/>
                </a:schemeClr>
              </a:solidFill>
              <a:round/>
            </a:ln>
            <a:effectLst>
              <a:outerShdw blurRad="57150" dist="19050" dir="5400000" algn="ctr" rotWithShape="0">
                <a:srgbClr val="000000">
                  <a:alpha val="63000"/>
                </a:srgbClr>
              </a:outerShdw>
            </a:effectLst>
          </c:spPr>
          <c:marker>
            <c:symbol val="circle"/>
            <c:size val="6"/>
            <c:spPr>
              <a:solidFill>
                <a:schemeClr val="accent3">
                  <a:lumMod val="50000"/>
                </a:schemeClr>
              </a:solidFill>
              <a:ln w="9525">
                <a:solidFill>
                  <a:schemeClr val="accent3">
                    <a:lumMod val="50000"/>
                  </a:schemeClr>
                </a:solidFill>
                <a:round/>
              </a:ln>
              <a:effectLst>
                <a:outerShdw blurRad="57150" dist="19050" dir="5400000" algn="ctr" rotWithShape="0">
                  <a:srgbClr val="000000">
                    <a:alpha val="63000"/>
                  </a:srgbClr>
                </a:outerShdw>
              </a:effectLst>
            </c:spPr>
          </c:marker>
          <c:dLbls>
            <c:numFmt formatCode="0.00,,&quot;M&quot;"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'disbursement trend'!$A$2:$A$6</c:f>
              <c:strCache>
                <c:ptCount val="4"/>
                <c:pt idx="0">
                  <c:v>FY 2017</c:v>
                </c:pt>
                <c:pt idx="1">
                  <c:v>FY 2018</c:v>
                </c:pt>
                <c:pt idx="2">
                  <c:v>FY 2019</c:v>
                </c:pt>
                <c:pt idx="3">
                  <c:v>FY 2020</c:v>
                </c:pt>
              </c:strCache>
            </c:strRef>
          </c:cat>
          <c:val>
            <c:numRef>
              <c:f>'disbursement trend'!$B$2:$B$6</c:f>
              <c:numCache>
                <c:formatCode>0.00</c:formatCode>
                <c:ptCount val="4"/>
                <c:pt idx="0">
                  <c:v>31349575</c:v>
                </c:pt>
                <c:pt idx="1">
                  <c:v>228622700</c:v>
                </c:pt>
                <c:pt idx="2">
                  <c:v>427108500</c:v>
                </c:pt>
                <c:pt idx="3">
                  <c:v>63886725</c:v>
                </c:pt>
              </c:numCache>
            </c:numRef>
          </c:val>
          <c:smooth val="0"/>
          <c:extLst>
            <c:ext xmlns:c16="http://schemas.microsoft.com/office/drawing/2014/chart" uri="{C3380CC4-5D6E-409C-BE32-E72D297353CC}">
              <c16:uniqueId val="{00000000-6D83-403E-BA15-BCB416E6EF2D}"/>
            </c:ext>
          </c:extLst>
        </c:ser>
        <c:dLbls>
          <c:dLblPos val="t"/>
          <c:showLegendKey val="0"/>
          <c:showVal val="1"/>
          <c:showCatName val="0"/>
          <c:showSerName val="0"/>
          <c:showPercent val="0"/>
          <c:showBubbleSize val="0"/>
        </c:dLbls>
        <c:marker val="1"/>
        <c:smooth val="0"/>
        <c:axId val="325391440"/>
        <c:axId val="325392880"/>
      </c:lineChart>
      <c:catAx>
        <c:axId val="325391440"/>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325392880"/>
        <c:crosses val="autoZero"/>
        <c:auto val="1"/>
        <c:lblAlgn val="ctr"/>
        <c:lblOffset val="100"/>
        <c:noMultiLvlLbl val="0"/>
      </c:catAx>
      <c:valAx>
        <c:axId val="325392880"/>
        <c:scaling>
          <c:orientation val="minMax"/>
        </c:scaling>
        <c:delete val="1"/>
        <c:axPos val="l"/>
        <c:numFmt formatCode="0.00,,&quot;M&quot;" sourceLinked="0"/>
        <c:majorTickMark val="none"/>
        <c:minorTickMark val="none"/>
        <c:tickLblPos val="nextTo"/>
        <c:crossAx val="325391440"/>
        <c:crosses val="autoZero"/>
        <c:crossBetween val="between"/>
      </c:valAx>
      <c:spPr>
        <a:noFill/>
        <a:ln>
          <a:noFill/>
        </a:ln>
        <a:effectLst>
          <a:innerShdw blurRad="63500" dist="50800">
            <a:prstClr val="black">
              <a:alpha val="50000"/>
            </a:prstClr>
          </a:innerShdw>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threePt" dir="t"/>
    </a:scene3d>
    <a:sp3d prstMaterial="matte">
      <a:bevelT w="63500" h="63500" prst="artDeco"/>
      <a:contourClr>
        <a:srgbClr val="000000"/>
      </a:contourClr>
    </a:sp3d>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2/23/2026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2/23/2026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812214"/>
            <a:ext cx="5472113" cy="337903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id="{BBC0CAF5-0DE6-4BEA-824E-124A54A76AC6}"/>
              </a:ext>
              <a:ext uri="{C183D7F6-B498-43B3-948B-1728B52AA6E4}">
                <adec:decorative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id="{ED008080-B2F5-441A-8B15-30AE86BBF943}"/>
              </a:ext>
              <a:ext uri="{C183D7F6-B498-43B3-948B-1728B52AA6E4}">
                <adec:decorative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7F8E7C83-06D7-4C5B-85B7-0E5713B4FAB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id="{52FA7FC9-E40E-4144-84E4-34E3722E9A6D}"/>
              </a:ext>
            </a:extLst>
          </p:cNvPr>
          <p:cNvSpPr>
            <a:spLocks noGrp="1"/>
          </p:cNvSpPr>
          <p:nvPr>
            <p:ph type="body" sz="quarter" idx="15"/>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endParaRPr lang="en-US" noProof="0" dirty="0"/>
          </a:p>
        </p:txBody>
      </p:sp>
      <p:sp>
        <p:nvSpPr>
          <p:cNvPr id="10" name="Text Placeholder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id="{3E8A46E0-47C2-4441-B7DD-F621A80F1FC8}"/>
              </a:ext>
              <a:ext uri="{C183D7F6-B498-43B3-948B-1728B52AA6E4}">
                <adec:decorative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6" name="Text Placeholder 4">
            <a:extLst>
              <a:ext uri="{FF2B5EF4-FFF2-40B4-BE49-F238E27FC236}">
                <a16:creationId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5">
            <a:extLst>
              <a:ext uri="{FF2B5EF4-FFF2-40B4-BE49-F238E27FC236}">
                <a16:creationId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Placeholder 3">
            <a:extLst>
              <a:ext uri="{FF2B5EF4-FFF2-40B4-BE49-F238E27FC236}">
                <a16:creationId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Picture Placeholder 2">
            <a:extLst>
              <a:ext uri="{FF2B5EF4-FFF2-40B4-BE49-F238E27FC236}">
                <a16:creationId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5.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Hands coming together in circle">
            <a:extLst>
              <a:ext uri="{FF2B5EF4-FFF2-40B4-BE49-F238E27FC236}">
                <a16:creationId xmlns:a16="http://schemas.microsoft.com/office/drawing/2014/main" id="{AA8A1CBA-9BB5-2246-9F4B-98EAD7C90158}"/>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a:xfrm>
            <a:off x="-1" y="0"/>
            <a:ext cx="11065934" cy="6804025"/>
          </a:xfrm>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3200400" y="2415870"/>
            <a:ext cx="8991600" cy="1058638"/>
          </a:xfrm>
        </p:spPr>
        <p:txBody>
          <a:bodyPr/>
          <a:lstStyle/>
          <a:p>
            <a:pPr algn="l"/>
            <a:r>
              <a:rPr lang="en-US" sz="5400" dirty="0"/>
              <a:t>Bank Loan and Debit &amp; Credit</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3200399" y="3474508"/>
            <a:ext cx="7865533" cy="3493559"/>
          </a:xfrm>
        </p:spPr>
        <p:txBody>
          <a:bodyPr/>
          <a:lstStyle/>
          <a:p>
            <a:pPr algn="l"/>
            <a:r>
              <a:rPr lang="en-US" sz="2800" dirty="0"/>
              <a:t>MEET OUR TEAM (Group-05)</a:t>
            </a:r>
          </a:p>
          <a:p>
            <a:pPr algn="l"/>
            <a:r>
              <a:rPr lang="en-US" dirty="0"/>
              <a:t>DEEPTI PATIL</a:t>
            </a:r>
          </a:p>
          <a:p>
            <a:pPr algn="l"/>
            <a:r>
              <a:rPr lang="en-US" dirty="0"/>
              <a:t>ABHISHA</a:t>
            </a:r>
          </a:p>
          <a:p>
            <a:pPr algn="l"/>
            <a:r>
              <a:rPr lang="en-US" dirty="0"/>
              <a:t>DARSHAN</a:t>
            </a:r>
          </a:p>
          <a:p>
            <a:pPr algn="l"/>
            <a:r>
              <a:rPr lang="en-US" dirty="0"/>
              <a:t>NISHAR ALI</a:t>
            </a:r>
          </a:p>
          <a:p>
            <a:pPr algn="l"/>
            <a:r>
              <a:rPr lang="en-US" dirty="0"/>
              <a:t>MONIKA ACHARJEE</a:t>
            </a:r>
          </a:p>
          <a:p>
            <a:pPr algn="l"/>
            <a:r>
              <a:rPr lang="en-US" dirty="0"/>
              <a:t>VALLAI</a:t>
            </a:r>
          </a:p>
        </p:txBody>
      </p:sp>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250853" y="1998733"/>
            <a:ext cx="5653147" cy="4102662"/>
          </a:xfrm>
        </p:spPr>
        <p:txBody>
          <a:bodyPr/>
          <a:lstStyle/>
          <a:p>
            <a:pPr marL="0" indent="0">
              <a:buNone/>
            </a:pPr>
            <a:r>
              <a:rPr lang="en-US" dirty="0"/>
              <a:t>Our project is divided into two main modules – Bank Loan Management and Credit &amp; Debit Card System </a:t>
            </a:r>
          </a:p>
          <a:p>
            <a:pPr marL="0" indent="0">
              <a:buNone/>
            </a:pPr>
            <a:r>
              <a:rPr lang="en-US" dirty="0"/>
              <a:t>This project focuses on developing a comprehensive banking system that manages loan processing and credit &amp; debit card operations efficiently.</a:t>
            </a:r>
          </a:p>
          <a:p>
            <a:pPr marL="0" indent="0">
              <a:buNone/>
            </a:pPr>
            <a:r>
              <a:rPr lang="en-US" dirty="0"/>
              <a:t>The Bank Loan module handles loan applications, eligibility verification, approval processes, interest calculation, and repayment tracking.</a:t>
            </a:r>
          </a:p>
          <a:p>
            <a:pPr marL="0" indent="0">
              <a:buNone/>
            </a:pPr>
            <a:r>
              <a:rPr lang="en-US" dirty="0"/>
              <a:t>The Credit &amp; Debit module manages card issuance, transaction monitoring, balance updates, and secure payment processing.</a:t>
            </a:r>
          </a:p>
          <a:p>
            <a:pPr marL="0" indent="0">
              <a:buNone/>
            </a:pPr>
            <a:r>
              <a:rPr lang="en-US" dirty="0"/>
              <a:t>The objective of this project is to ensure accuracy, security, and transparency in financial operations using data-driven tools and analytical techniques.</a:t>
            </a:r>
          </a:p>
          <a:p>
            <a:pPr marL="0" indent="0">
              <a:buNone/>
            </a:pPr>
            <a:r>
              <a:rPr lang="en-US" dirty="0"/>
              <a:t>The tools that are used in this projects are Excel, SQL, Tableau and </a:t>
            </a:r>
            <a:r>
              <a:rPr lang="en-US" dirty="0" err="1"/>
              <a:t>Powerbi</a:t>
            </a:r>
            <a:r>
              <a:rPr lang="en-US" dirty="0"/>
              <a:t>.</a:t>
            </a:r>
          </a:p>
          <a:p>
            <a:pPr marL="0" indent="0">
              <a:buNone/>
            </a:pPr>
            <a:r>
              <a:rPr lang="en-US" dirty="0"/>
              <a:t>Using SQL for data management and Power BI/Tableau for visualization, we generated insights to support better financial decision-making.</a:t>
            </a:r>
          </a:p>
        </p:txBody>
      </p:sp>
      <p:pic>
        <p:nvPicPr>
          <p:cNvPr id="9" name="Picture Placeholder 8" descr="Handing touching mobile phone">
            <a:extLst>
              <a:ext uri="{FF2B5EF4-FFF2-40B4-BE49-F238E27FC236}">
                <a16:creationId xmlns:a16="http://schemas.microsoft.com/office/drawing/2014/main" id="{A9A75888-22E3-1D43-9112-DA02186070B5}"/>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a:xfrm>
            <a:off x="6096000" y="1"/>
            <a:ext cx="6096000" cy="6799068"/>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7111800" y="3675899"/>
            <a:ext cx="4648200" cy="985000"/>
          </a:xfrm>
        </p:spPr>
        <p:txBody>
          <a:bodyPr/>
          <a:lstStyle/>
          <a:p>
            <a:pPr algn="l"/>
            <a:r>
              <a:rPr lang="en-US" sz="4800" dirty="0"/>
              <a:t>INTRODUCTION</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7111800" y="4673076"/>
            <a:ext cx="4648200" cy="840276"/>
          </a:xfrm>
        </p:spPr>
        <p:txBody>
          <a:bodyPr/>
          <a:lstStyle/>
          <a:p>
            <a:pPr algn="l"/>
            <a:r>
              <a:rPr lang="en-US" dirty="0"/>
              <a:t>Transforming banking data into meaningful insights for smarter financial decisions.</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132974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4E83-A4F0-49C5-BB01-F5773509A2B3}"/>
              </a:ext>
            </a:extLst>
          </p:cNvPr>
          <p:cNvSpPr>
            <a:spLocks noGrp="1"/>
          </p:cNvSpPr>
          <p:nvPr>
            <p:ph type="title"/>
          </p:nvPr>
        </p:nvSpPr>
        <p:spPr>
          <a:xfrm>
            <a:off x="432000" y="188641"/>
            <a:ext cx="5664000" cy="432000"/>
          </a:xfrm>
        </p:spPr>
        <p:txBody>
          <a:bodyPr/>
          <a:lstStyle/>
          <a:p>
            <a:r>
              <a:rPr lang="en-US" sz="2800" dirty="0"/>
              <a:t>MAJOR KPI’s (bank loan data)</a:t>
            </a:r>
          </a:p>
        </p:txBody>
      </p:sp>
      <p:sp>
        <p:nvSpPr>
          <p:cNvPr id="3" name="Text Placeholder 2">
            <a:extLst>
              <a:ext uri="{FF2B5EF4-FFF2-40B4-BE49-F238E27FC236}">
                <a16:creationId xmlns:a16="http://schemas.microsoft.com/office/drawing/2014/main" id="{7CA42D59-EAD6-4F95-84F1-32A30F057856}"/>
              </a:ext>
            </a:extLst>
          </p:cNvPr>
          <p:cNvSpPr>
            <a:spLocks noGrp="1"/>
          </p:cNvSpPr>
          <p:nvPr>
            <p:ph type="body" sz="quarter" idx="32"/>
          </p:nvPr>
        </p:nvSpPr>
        <p:spPr>
          <a:xfrm>
            <a:off x="325317" y="801111"/>
            <a:ext cx="5905549" cy="2776507"/>
          </a:xfrm>
        </p:spPr>
        <p:txBody>
          <a:bodyPr/>
          <a:lstStyle/>
          <a:p>
            <a:r>
              <a:rPr lang="en-US" b="1" dirty="0"/>
              <a:t>TOTAL LOAN AMOUNT      TOTAL FUNDED AMOUNT</a:t>
            </a:r>
          </a:p>
          <a:p>
            <a:r>
              <a:rPr lang="en-US" b="1" dirty="0"/>
              <a:t>  </a:t>
            </a:r>
          </a:p>
          <a:p>
            <a:endParaRPr lang="en-US" b="1" dirty="0"/>
          </a:p>
          <a:p>
            <a:r>
              <a:rPr lang="en-US" b="1" dirty="0"/>
              <a:t> </a:t>
            </a:r>
          </a:p>
          <a:p>
            <a:r>
              <a:rPr lang="en-US" b="1" dirty="0"/>
              <a:t>     TOTAL PAYMENT           TOTAL FEES           TOTAL INTERSET</a:t>
            </a:r>
            <a:r>
              <a:rPr lang="en-US" dirty="0"/>
              <a:t>                     </a:t>
            </a:r>
          </a:p>
        </p:txBody>
      </p:sp>
      <p:sp>
        <p:nvSpPr>
          <p:cNvPr id="12" name="Rectangle 11">
            <a:extLst>
              <a:ext uri="{FF2B5EF4-FFF2-40B4-BE49-F238E27FC236}">
                <a16:creationId xmlns:a16="http://schemas.microsoft.com/office/drawing/2014/main" id="{7F65E93D-09FF-42EE-B9DD-750638966686}"/>
              </a:ext>
              <a:ext uri="{C183D7F6-B498-43B3-948B-1728B52AA6E4}">
                <adec:decorative xmlns:adec="http://schemas.microsoft.com/office/drawing/2017/decorative" val="1"/>
              </a:ext>
            </a:extLst>
          </p:cNvPr>
          <p:cNvSpPr/>
          <p:nvPr/>
        </p:nvSpPr>
        <p:spPr>
          <a:xfrm>
            <a:off x="4320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4" name="Text Placeholder 3">
            <a:extLst>
              <a:ext uri="{FF2B5EF4-FFF2-40B4-BE49-F238E27FC236}">
                <a16:creationId xmlns:a16="http://schemas.microsoft.com/office/drawing/2014/main" id="{6AB259A0-0017-492F-A0DC-4B70C7052AE0}"/>
              </a:ext>
            </a:extLst>
          </p:cNvPr>
          <p:cNvSpPr>
            <a:spLocks noGrp="1"/>
          </p:cNvSpPr>
          <p:nvPr>
            <p:ph type="body" idx="1"/>
          </p:nvPr>
        </p:nvSpPr>
        <p:spPr>
          <a:xfrm>
            <a:off x="431999" y="3429001"/>
            <a:ext cx="5725605" cy="2850418"/>
          </a:xfrm>
        </p:spPr>
        <p:txBody>
          <a:bodyPr/>
          <a:lstStyle/>
          <a:p>
            <a:r>
              <a:rPr lang="en-US" sz="2800" dirty="0"/>
              <a:t>MAJOR KPI’s(credit and debit data)</a:t>
            </a:r>
          </a:p>
          <a:p>
            <a:r>
              <a:rPr lang="en-US" sz="1800" dirty="0"/>
              <a:t>  TOTAL AMOUNT       TOTAL BALANCE         TOTAL DEBIT</a:t>
            </a:r>
          </a:p>
          <a:p>
            <a:endParaRPr lang="en-US" sz="1800" dirty="0"/>
          </a:p>
          <a:p>
            <a:endParaRPr lang="en-US" sz="1800" dirty="0"/>
          </a:p>
          <a:p>
            <a:r>
              <a:rPr lang="en-US" sz="1800" dirty="0"/>
              <a:t>     TOTAL CREDIT</a:t>
            </a:r>
          </a:p>
        </p:txBody>
      </p:sp>
      <p:pic>
        <p:nvPicPr>
          <p:cNvPr id="27" name="Content Placeholder 26">
            <a:extLst>
              <a:ext uri="{FF2B5EF4-FFF2-40B4-BE49-F238E27FC236}">
                <a16:creationId xmlns:a16="http://schemas.microsoft.com/office/drawing/2014/main" id="{C64826F9-A6A4-CE7E-474D-05DE596CB186}"/>
              </a:ext>
            </a:extLst>
          </p:cNvPr>
          <p:cNvPicPr>
            <a:picLocks noGrp="1" noChangeAspect="1"/>
          </p:cNvPicPr>
          <p:nvPr>
            <p:ph sz="half" idx="2"/>
          </p:nvPr>
        </p:nvPicPr>
        <p:blipFill>
          <a:blip r:embed="rId2"/>
          <a:stretch>
            <a:fillRect/>
          </a:stretch>
        </p:blipFill>
        <p:spPr>
          <a:xfrm>
            <a:off x="4463966" y="2583244"/>
            <a:ext cx="1632034" cy="666784"/>
          </a:xfrm>
          <a:prstGeom prst="rect">
            <a:avLst/>
          </a:prstGeom>
        </p:spPr>
      </p:pic>
      <p:cxnSp>
        <p:nvCxnSpPr>
          <p:cNvPr id="11" name="Straight Connector 10">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a:cxnSpLocks/>
          </p:cNvCxnSpPr>
          <p:nvPr/>
        </p:nvCxnSpPr>
        <p:spPr>
          <a:xfrm>
            <a:off x="6222140" y="2282050"/>
            <a:ext cx="8726" cy="2411331"/>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7CD04AE-9A8B-4DED-855D-F51B510D0B69}"/>
              </a:ext>
              <a:ext uri="{C183D7F6-B498-43B3-948B-1728B52AA6E4}">
                <adec:decorative xmlns:adec="http://schemas.microsoft.com/office/drawing/2017/decorative" val="1"/>
              </a:ext>
            </a:extLst>
          </p:cNvPr>
          <p:cNvSpPr/>
          <p:nvPr/>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6" name="Text Placeholder 5">
            <a:extLst>
              <a:ext uri="{FF2B5EF4-FFF2-40B4-BE49-F238E27FC236}">
                <a16:creationId xmlns:a16="http://schemas.microsoft.com/office/drawing/2014/main" id="{B237D1CA-B91A-410E-A968-D017BBE99F99}"/>
              </a:ext>
            </a:extLst>
          </p:cNvPr>
          <p:cNvSpPr>
            <a:spLocks noGrp="1"/>
          </p:cNvSpPr>
          <p:nvPr>
            <p:ph type="body" sz="quarter" idx="13"/>
          </p:nvPr>
        </p:nvSpPr>
        <p:spPr>
          <a:xfrm>
            <a:off x="6300000" y="234635"/>
            <a:ext cx="5472000" cy="425472"/>
          </a:xfrm>
        </p:spPr>
        <p:txBody>
          <a:bodyPr/>
          <a:lstStyle/>
          <a:p>
            <a:r>
              <a:rPr lang="en-US" dirty="0"/>
              <a:t>ABOUT KPI’s</a:t>
            </a:r>
          </a:p>
        </p:txBody>
      </p:sp>
      <p:sp>
        <p:nvSpPr>
          <p:cNvPr id="7" name="Text Placeholder 6">
            <a:extLst>
              <a:ext uri="{FF2B5EF4-FFF2-40B4-BE49-F238E27FC236}">
                <a16:creationId xmlns:a16="http://schemas.microsoft.com/office/drawing/2014/main" id="{26A87885-D672-4CF9-A78D-CFE98385B03A}"/>
              </a:ext>
            </a:extLst>
          </p:cNvPr>
          <p:cNvSpPr>
            <a:spLocks noGrp="1"/>
          </p:cNvSpPr>
          <p:nvPr>
            <p:ph type="body" sz="quarter" idx="12"/>
          </p:nvPr>
        </p:nvSpPr>
        <p:spPr>
          <a:xfrm>
            <a:off x="6295402" y="860099"/>
            <a:ext cx="5476600" cy="5723988"/>
          </a:xfrm>
        </p:spPr>
        <p:txBody>
          <a:bodyPr/>
          <a:lstStyle/>
          <a:p>
            <a:r>
              <a:rPr lang="en-US" dirty="0"/>
              <a:t>BANK LOAN KPI’s</a:t>
            </a:r>
          </a:p>
          <a:p>
            <a:r>
              <a:rPr lang="en-US" dirty="0"/>
              <a:t>We’ve put out a massive 750.97M in total loans.</a:t>
            </a:r>
          </a:p>
          <a:p>
            <a:r>
              <a:rPr lang="en-US" dirty="0"/>
              <a:t>Out of that, we actually handed over 732.70M to our customers.</a:t>
            </a:r>
          </a:p>
          <a:p>
            <a:r>
              <a:rPr lang="en-US" dirty="0"/>
              <a:t>The best news? We’ve already collected 814.90M back.</a:t>
            </a:r>
          </a:p>
          <a:p>
            <a:r>
              <a:rPr lang="en-US" dirty="0"/>
              <a:t>This means we aren’t just breaking even; we’re making a healthy profit.</a:t>
            </a:r>
          </a:p>
          <a:p>
            <a:r>
              <a:rPr lang="en-US" dirty="0"/>
              <a:t>On top of that, we’ve made 1.22M just from fees alone.</a:t>
            </a:r>
          </a:p>
          <a:p>
            <a:r>
              <a:rPr lang="en-US" dirty="0"/>
              <a:t>We’ve got the interest of amount 155M too.</a:t>
            </a:r>
          </a:p>
          <a:p>
            <a:r>
              <a:rPr lang="en-US" dirty="0"/>
              <a:t>DBEIT &amp; CREDIT KPI’s</a:t>
            </a:r>
          </a:p>
          <a:p>
            <a:r>
              <a:rPr lang="en-US" dirty="0"/>
              <a:t>We’ve total amount 254.89M and total balance is around 526.08M.</a:t>
            </a:r>
          </a:p>
          <a:p>
            <a:r>
              <a:rPr lang="en-US" dirty="0"/>
              <a:t>Total debit and credit is 127.29M and 127.60M which is nearly similar to each other.</a:t>
            </a:r>
          </a:p>
          <a:p>
            <a:endParaRPr lang="en-US" dirty="0"/>
          </a:p>
        </p:txBody>
      </p:sp>
      <p:sp>
        <p:nvSpPr>
          <p:cNvPr id="8" name="Slide Number Placeholder 7">
            <a:extLst>
              <a:ext uri="{FF2B5EF4-FFF2-40B4-BE49-F238E27FC236}">
                <a16:creationId xmlns:a16="http://schemas.microsoft.com/office/drawing/2014/main" id="{E6AC9832-FB01-464A-9824-61887B77997E}"/>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3</a:t>
            </a:fld>
            <a:endParaRPr lang="en-US" dirty="0"/>
          </a:p>
        </p:txBody>
      </p:sp>
      <p:pic>
        <p:nvPicPr>
          <p:cNvPr id="15" name="Picture 14">
            <a:extLst>
              <a:ext uri="{FF2B5EF4-FFF2-40B4-BE49-F238E27FC236}">
                <a16:creationId xmlns:a16="http://schemas.microsoft.com/office/drawing/2014/main" id="{AF295741-EFAC-3493-B45D-94AE250B78B3}"/>
              </a:ext>
            </a:extLst>
          </p:cNvPr>
          <p:cNvPicPr>
            <a:picLocks noChangeAspect="1"/>
          </p:cNvPicPr>
          <p:nvPr/>
        </p:nvPicPr>
        <p:blipFill>
          <a:blip r:embed="rId3"/>
          <a:stretch>
            <a:fillRect/>
          </a:stretch>
        </p:blipFill>
        <p:spPr>
          <a:xfrm>
            <a:off x="550917" y="1143064"/>
            <a:ext cx="1708238" cy="666784"/>
          </a:xfrm>
          <a:prstGeom prst="rect">
            <a:avLst/>
          </a:prstGeom>
        </p:spPr>
      </p:pic>
      <p:pic>
        <p:nvPicPr>
          <p:cNvPr id="19" name="Picture 18">
            <a:extLst>
              <a:ext uri="{FF2B5EF4-FFF2-40B4-BE49-F238E27FC236}">
                <a16:creationId xmlns:a16="http://schemas.microsoft.com/office/drawing/2014/main" id="{604FE406-B369-955C-2487-1090F0827E30}"/>
              </a:ext>
            </a:extLst>
          </p:cNvPr>
          <p:cNvPicPr>
            <a:picLocks noChangeAspect="1"/>
          </p:cNvPicPr>
          <p:nvPr/>
        </p:nvPicPr>
        <p:blipFill>
          <a:blip r:embed="rId4"/>
          <a:stretch>
            <a:fillRect/>
          </a:stretch>
        </p:blipFill>
        <p:spPr>
          <a:xfrm>
            <a:off x="3257017" y="1143064"/>
            <a:ext cx="1739989" cy="673135"/>
          </a:xfrm>
          <a:prstGeom prst="rect">
            <a:avLst/>
          </a:prstGeom>
        </p:spPr>
      </p:pic>
      <p:pic>
        <p:nvPicPr>
          <p:cNvPr id="23" name="Picture 22">
            <a:extLst>
              <a:ext uri="{FF2B5EF4-FFF2-40B4-BE49-F238E27FC236}">
                <a16:creationId xmlns:a16="http://schemas.microsoft.com/office/drawing/2014/main" id="{357F882D-0E44-057E-9627-2C7233DCBB9C}"/>
              </a:ext>
            </a:extLst>
          </p:cNvPr>
          <p:cNvPicPr>
            <a:picLocks noChangeAspect="1"/>
          </p:cNvPicPr>
          <p:nvPr/>
        </p:nvPicPr>
        <p:blipFill>
          <a:blip r:embed="rId5"/>
          <a:stretch>
            <a:fillRect/>
          </a:stretch>
        </p:blipFill>
        <p:spPr>
          <a:xfrm>
            <a:off x="2577295" y="2583244"/>
            <a:ext cx="1600282" cy="666784"/>
          </a:xfrm>
          <a:prstGeom prst="rect">
            <a:avLst/>
          </a:prstGeom>
        </p:spPr>
      </p:pic>
      <p:pic>
        <p:nvPicPr>
          <p:cNvPr id="25" name="Picture 24">
            <a:extLst>
              <a:ext uri="{FF2B5EF4-FFF2-40B4-BE49-F238E27FC236}">
                <a16:creationId xmlns:a16="http://schemas.microsoft.com/office/drawing/2014/main" id="{2B5957E6-11CE-4F63-3A39-51AF714D96A2}"/>
              </a:ext>
            </a:extLst>
          </p:cNvPr>
          <p:cNvPicPr>
            <a:picLocks noChangeAspect="1"/>
          </p:cNvPicPr>
          <p:nvPr/>
        </p:nvPicPr>
        <p:blipFill>
          <a:blip r:embed="rId6"/>
          <a:stretch>
            <a:fillRect/>
          </a:stretch>
        </p:blipFill>
        <p:spPr>
          <a:xfrm>
            <a:off x="569968" y="2586612"/>
            <a:ext cx="1689187" cy="673135"/>
          </a:xfrm>
          <a:prstGeom prst="rect">
            <a:avLst/>
          </a:prstGeom>
        </p:spPr>
      </p:pic>
      <p:pic>
        <p:nvPicPr>
          <p:cNvPr id="31" name="Picture 30">
            <a:extLst>
              <a:ext uri="{FF2B5EF4-FFF2-40B4-BE49-F238E27FC236}">
                <a16:creationId xmlns:a16="http://schemas.microsoft.com/office/drawing/2014/main" id="{4CA7CDAB-4E5A-8BF5-522F-286C3CA269B3}"/>
              </a:ext>
            </a:extLst>
          </p:cNvPr>
          <p:cNvPicPr>
            <a:picLocks noChangeAspect="1"/>
          </p:cNvPicPr>
          <p:nvPr/>
        </p:nvPicPr>
        <p:blipFill>
          <a:blip r:embed="rId7"/>
          <a:stretch>
            <a:fillRect/>
          </a:stretch>
        </p:blipFill>
        <p:spPr>
          <a:xfrm>
            <a:off x="550917" y="4254851"/>
            <a:ext cx="1717189" cy="686301"/>
          </a:xfrm>
          <a:prstGeom prst="rect">
            <a:avLst/>
          </a:prstGeom>
        </p:spPr>
      </p:pic>
      <p:pic>
        <p:nvPicPr>
          <p:cNvPr id="33" name="Picture 32">
            <a:extLst>
              <a:ext uri="{FF2B5EF4-FFF2-40B4-BE49-F238E27FC236}">
                <a16:creationId xmlns:a16="http://schemas.microsoft.com/office/drawing/2014/main" id="{70C7AB5C-8226-D675-1371-B1E91E338F12}"/>
              </a:ext>
            </a:extLst>
          </p:cNvPr>
          <p:cNvPicPr>
            <a:picLocks noChangeAspect="1"/>
          </p:cNvPicPr>
          <p:nvPr/>
        </p:nvPicPr>
        <p:blipFill>
          <a:blip r:embed="rId8"/>
          <a:stretch>
            <a:fillRect/>
          </a:stretch>
        </p:blipFill>
        <p:spPr>
          <a:xfrm>
            <a:off x="550917" y="5380125"/>
            <a:ext cx="1698138" cy="669621"/>
          </a:xfrm>
          <a:prstGeom prst="rect">
            <a:avLst/>
          </a:prstGeom>
        </p:spPr>
      </p:pic>
      <p:pic>
        <p:nvPicPr>
          <p:cNvPr id="35" name="Picture 34">
            <a:extLst>
              <a:ext uri="{FF2B5EF4-FFF2-40B4-BE49-F238E27FC236}">
                <a16:creationId xmlns:a16="http://schemas.microsoft.com/office/drawing/2014/main" id="{C56A2DC6-14F2-654D-6CFC-F8E99DEA1C28}"/>
              </a:ext>
            </a:extLst>
          </p:cNvPr>
          <p:cNvPicPr>
            <a:picLocks noChangeAspect="1"/>
          </p:cNvPicPr>
          <p:nvPr/>
        </p:nvPicPr>
        <p:blipFill>
          <a:blip r:embed="rId9"/>
          <a:stretch>
            <a:fillRect/>
          </a:stretch>
        </p:blipFill>
        <p:spPr>
          <a:xfrm>
            <a:off x="4421388" y="4219459"/>
            <a:ext cx="1717189" cy="669621"/>
          </a:xfrm>
          <a:prstGeom prst="rect">
            <a:avLst/>
          </a:prstGeom>
        </p:spPr>
      </p:pic>
      <p:pic>
        <p:nvPicPr>
          <p:cNvPr id="37" name="Picture 36">
            <a:extLst>
              <a:ext uri="{FF2B5EF4-FFF2-40B4-BE49-F238E27FC236}">
                <a16:creationId xmlns:a16="http://schemas.microsoft.com/office/drawing/2014/main" id="{9C6936A7-623E-00B1-1B24-0B90EA44945C}"/>
              </a:ext>
            </a:extLst>
          </p:cNvPr>
          <p:cNvPicPr>
            <a:picLocks noChangeAspect="1"/>
          </p:cNvPicPr>
          <p:nvPr/>
        </p:nvPicPr>
        <p:blipFill>
          <a:blip r:embed="rId10"/>
          <a:stretch>
            <a:fillRect/>
          </a:stretch>
        </p:blipFill>
        <p:spPr>
          <a:xfrm>
            <a:off x="2500153" y="4221432"/>
            <a:ext cx="1689187" cy="673135"/>
          </a:xfrm>
          <a:prstGeom prst="rect">
            <a:avLst/>
          </a:prstGeom>
        </p:spPr>
      </p:pic>
      <p:sp>
        <p:nvSpPr>
          <p:cNvPr id="38" name="Rectangle 37">
            <a:extLst>
              <a:ext uri="{FF2B5EF4-FFF2-40B4-BE49-F238E27FC236}">
                <a16:creationId xmlns:a16="http://schemas.microsoft.com/office/drawing/2014/main" id="{71593555-AADE-3FAE-4D9F-BCFCFFFBF335}"/>
              </a:ext>
            </a:extLst>
          </p:cNvPr>
          <p:cNvSpPr/>
          <p:nvPr/>
        </p:nvSpPr>
        <p:spPr>
          <a:xfrm>
            <a:off x="9613339" y="6371351"/>
            <a:ext cx="2146662" cy="42547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88837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AE30-ED14-7501-11F6-1E6ED318E1BC}"/>
              </a:ext>
            </a:extLst>
          </p:cNvPr>
          <p:cNvSpPr>
            <a:spLocks noGrp="1"/>
          </p:cNvSpPr>
          <p:nvPr>
            <p:ph type="title"/>
          </p:nvPr>
        </p:nvSpPr>
        <p:spPr>
          <a:xfrm>
            <a:off x="0" y="0"/>
            <a:ext cx="11328000" cy="455149"/>
          </a:xfrm>
        </p:spPr>
        <p:txBody>
          <a:bodyPr/>
          <a:lstStyle/>
          <a:p>
            <a:r>
              <a:rPr lang="en-US" dirty="0"/>
              <a:t>EXCEL DASHBOARD</a:t>
            </a:r>
            <a:endParaRPr lang="en-IN" dirty="0"/>
          </a:p>
        </p:txBody>
      </p:sp>
      <p:sp>
        <p:nvSpPr>
          <p:cNvPr id="3" name="Text Placeholder 2">
            <a:extLst>
              <a:ext uri="{FF2B5EF4-FFF2-40B4-BE49-F238E27FC236}">
                <a16:creationId xmlns:a16="http://schemas.microsoft.com/office/drawing/2014/main" id="{D60B6340-C1FF-C9AC-4340-05496FAA2BDB}"/>
              </a:ext>
            </a:extLst>
          </p:cNvPr>
          <p:cNvSpPr>
            <a:spLocks noGrp="1"/>
          </p:cNvSpPr>
          <p:nvPr>
            <p:ph type="body" sz="quarter" idx="32"/>
          </p:nvPr>
        </p:nvSpPr>
        <p:spPr>
          <a:xfrm>
            <a:off x="431800" y="1007999"/>
            <a:ext cx="11339513" cy="5795351"/>
          </a:xfrm>
        </p:spPr>
        <p:txBody>
          <a:bodyPr/>
          <a:lstStyle/>
          <a:p>
            <a:endParaRPr lang="en-IN" dirty="0"/>
          </a:p>
        </p:txBody>
      </p:sp>
      <p:sp>
        <p:nvSpPr>
          <p:cNvPr id="4" name="Footer Placeholder 3">
            <a:extLst>
              <a:ext uri="{FF2B5EF4-FFF2-40B4-BE49-F238E27FC236}">
                <a16:creationId xmlns:a16="http://schemas.microsoft.com/office/drawing/2014/main" id="{B079DE5D-E4B0-5E46-2723-8176C414EA67}"/>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E9727784-8A3D-79CD-604B-741F220E42CD}"/>
              </a:ext>
            </a:extLst>
          </p:cNvPr>
          <p:cNvSpPr>
            <a:spLocks noGrp="1"/>
          </p:cNvSpPr>
          <p:nvPr>
            <p:ph type="sldNum" sz="quarter" idx="33"/>
          </p:nvPr>
        </p:nvSpPr>
        <p:spPr/>
        <p:txBody>
          <a:bodyPr/>
          <a:lstStyle/>
          <a:p>
            <a:fld id="{19B51A1E-902D-48AF-9020-955120F399B6}" type="slidenum">
              <a:rPr lang="en-US" noProof="0" smtClean="0"/>
              <a:pPr/>
              <a:t>4</a:t>
            </a:fld>
            <a:endParaRPr lang="en-US" noProof="0" dirty="0"/>
          </a:p>
        </p:txBody>
      </p:sp>
      <p:pic>
        <p:nvPicPr>
          <p:cNvPr id="7" name="Picture 6">
            <a:extLst>
              <a:ext uri="{FF2B5EF4-FFF2-40B4-BE49-F238E27FC236}">
                <a16:creationId xmlns:a16="http://schemas.microsoft.com/office/drawing/2014/main" id="{DC3481A0-B40C-AFD2-89B9-11BE633B8411}"/>
              </a:ext>
            </a:extLst>
          </p:cNvPr>
          <p:cNvPicPr>
            <a:picLocks noChangeAspect="1"/>
          </p:cNvPicPr>
          <p:nvPr/>
        </p:nvPicPr>
        <p:blipFill>
          <a:blip r:embed="rId2"/>
          <a:stretch>
            <a:fillRect/>
          </a:stretch>
        </p:blipFill>
        <p:spPr>
          <a:xfrm>
            <a:off x="0" y="388418"/>
            <a:ext cx="12192000" cy="6414932"/>
          </a:xfrm>
          <a:prstGeom prst="rect">
            <a:avLst/>
          </a:prstGeom>
        </p:spPr>
      </p:pic>
    </p:spTree>
    <p:extLst>
      <p:ext uri="{BB962C8B-B14F-4D97-AF65-F5344CB8AC3E}">
        <p14:creationId xmlns:p14="http://schemas.microsoft.com/office/powerpoint/2010/main" val="2726252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7CDC9-4B89-3189-F1C1-8E07C0A79F78}"/>
              </a:ext>
            </a:extLst>
          </p:cNvPr>
          <p:cNvSpPr>
            <a:spLocks noGrp="1"/>
          </p:cNvSpPr>
          <p:nvPr>
            <p:ph type="title"/>
          </p:nvPr>
        </p:nvSpPr>
        <p:spPr>
          <a:xfrm>
            <a:off x="0" y="0"/>
            <a:ext cx="11328000" cy="432000"/>
          </a:xfrm>
        </p:spPr>
        <p:txBody>
          <a:bodyPr/>
          <a:lstStyle/>
          <a:p>
            <a:r>
              <a:rPr lang="en-US" dirty="0"/>
              <a:t>INSIGHTS AND SUGGESTIONS.</a:t>
            </a:r>
            <a:endParaRPr lang="en-IN" dirty="0"/>
          </a:p>
        </p:txBody>
      </p:sp>
      <p:sp>
        <p:nvSpPr>
          <p:cNvPr id="4" name="Footer Placeholder 3">
            <a:extLst>
              <a:ext uri="{FF2B5EF4-FFF2-40B4-BE49-F238E27FC236}">
                <a16:creationId xmlns:a16="http://schemas.microsoft.com/office/drawing/2014/main" id="{F41472B0-EB50-E24F-D853-67EABAB97760}"/>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F486EB14-EA34-C5AB-6277-B3E617C0A193}"/>
              </a:ext>
            </a:extLst>
          </p:cNvPr>
          <p:cNvSpPr>
            <a:spLocks noGrp="1"/>
          </p:cNvSpPr>
          <p:nvPr>
            <p:ph type="sldNum" sz="quarter" idx="33"/>
          </p:nvPr>
        </p:nvSpPr>
        <p:spPr/>
        <p:txBody>
          <a:bodyPr/>
          <a:lstStyle/>
          <a:p>
            <a:fld id="{19B51A1E-902D-48AF-9020-955120F399B6}" type="slidenum">
              <a:rPr lang="en-US" noProof="0" smtClean="0"/>
              <a:pPr/>
              <a:t>5</a:t>
            </a:fld>
            <a:endParaRPr lang="en-US" noProof="0" dirty="0"/>
          </a:p>
        </p:txBody>
      </p:sp>
      <p:sp>
        <p:nvSpPr>
          <p:cNvPr id="9" name="TextBox 8">
            <a:extLst>
              <a:ext uri="{FF2B5EF4-FFF2-40B4-BE49-F238E27FC236}">
                <a16:creationId xmlns:a16="http://schemas.microsoft.com/office/drawing/2014/main" id="{DAD673E4-A889-CABB-AFF0-F49BF58E011B}"/>
              </a:ext>
            </a:extLst>
          </p:cNvPr>
          <p:cNvSpPr txBox="1"/>
          <p:nvPr/>
        </p:nvSpPr>
        <p:spPr>
          <a:xfrm>
            <a:off x="4826049" y="432001"/>
            <a:ext cx="6632270" cy="2031325"/>
          </a:xfrm>
          <a:prstGeom prst="rect">
            <a:avLst/>
          </a:prstGeom>
          <a:noFill/>
          <a:ln>
            <a:noFill/>
          </a:ln>
          <a:effectLst>
            <a:innerShdw blurRad="114300">
              <a:prstClr val="black"/>
            </a:innerShdw>
          </a:effectLst>
        </p:spPr>
        <p:txBody>
          <a:bodyPr wrap="square" rtlCol="0">
            <a:spAutoFit/>
          </a:bodyPr>
          <a:lstStyle/>
          <a:p>
            <a:r>
              <a:rPr lang="en-US" dirty="0"/>
              <a:t>🎯 Insight:</a:t>
            </a:r>
          </a:p>
          <a:p>
            <a:pPr marL="285750" indent="-285750">
              <a:buFont typeface="Arial" panose="020B0604020202020204" pitchFamily="34" charset="0"/>
              <a:buChar char="•"/>
            </a:pPr>
            <a:r>
              <a:rPr lang="en-US" dirty="0"/>
              <a:t>Loan business is concentrated in a few states. Some regions have very low penetration.</a:t>
            </a:r>
          </a:p>
          <a:p>
            <a:r>
              <a:rPr lang="en-US" dirty="0"/>
              <a:t>💡 Suggestion:</a:t>
            </a:r>
          </a:p>
          <a:p>
            <a:pPr marL="285750" indent="-285750">
              <a:buFont typeface="Arial" panose="020B0604020202020204" pitchFamily="34" charset="0"/>
              <a:buChar char="•"/>
            </a:pPr>
            <a:r>
              <a:rPr lang="en-US" dirty="0"/>
              <a:t>The bank should expand marketing in low-performing states. They can also analyze why top states are performing well and apply the same strategy in other regions.</a:t>
            </a:r>
            <a:endParaRPr lang="en-IN" dirty="0"/>
          </a:p>
        </p:txBody>
      </p:sp>
      <p:graphicFrame>
        <p:nvGraphicFramePr>
          <p:cNvPr id="10" name="Chart 9">
            <a:extLst>
              <a:ext uri="{FF2B5EF4-FFF2-40B4-BE49-F238E27FC236}">
                <a16:creationId xmlns:a16="http://schemas.microsoft.com/office/drawing/2014/main" id="{51BE510C-E574-4BF7-9AB1-2768C36CC53B}"/>
              </a:ext>
            </a:extLst>
          </p:cNvPr>
          <p:cNvGraphicFramePr>
            <a:graphicFrameLocks/>
          </p:cNvGraphicFramePr>
          <p:nvPr>
            <p:extLst>
              <p:ext uri="{D42A27DB-BD31-4B8C-83A1-F6EECF244321}">
                <p14:modId xmlns:p14="http://schemas.microsoft.com/office/powerpoint/2010/main" val="3176992398"/>
              </p:ext>
            </p:extLst>
          </p:nvPr>
        </p:nvGraphicFramePr>
        <p:xfrm>
          <a:off x="-1" y="2537472"/>
          <a:ext cx="4782393" cy="2130566"/>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BCC845B2-8882-82FE-4EC4-D4FEE64BCB6B}"/>
              </a:ext>
            </a:extLst>
          </p:cNvPr>
          <p:cNvSpPr txBox="1"/>
          <p:nvPr/>
        </p:nvSpPr>
        <p:spPr>
          <a:xfrm>
            <a:off x="4782392" y="2498213"/>
            <a:ext cx="6675929" cy="2308324"/>
          </a:xfrm>
          <a:prstGeom prst="rect">
            <a:avLst/>
          </a:prstGeom>
          <a:noFill/>
          <a:ln>
            <a:noFill/>
          </a:ln>
        </p:spPr>
        <p:txBody>
          <a:bodyPr wrap="square" rtlCol="0">
            <a:spAutoFit/>
          </a:bodyPr>
          <a:lstStyle/>
          <a:p>
            <a:r>
              <a:rPr lang="en-US" dirty="0"/>
              <a:t>🎯 Insight:</a:t>
            </a:r>
          </a:p>
          <a:p>
            <a:pPr marL="285750" indent="-285750">
              <a:buFont typeface="Arial" panose="020B0604020202020204" pitchFamily="34" charset="0"/>
              <a:buChar char="•"/>
            </a:pPr>
            <a:r>
              <a:rPr lang="en-US" dirty="0"/>
              <a:t>The bank might be focusing on women empowerment schemes or self-help groups. But the difference looks extremely high.</a:t>
            </a:r>
          </a:p>
          <a:p>
            <a:r>
              <a:rPr lang="en-US" dirty="0"/>
              <a:t>💡 Suggestion:</a:t>
            </a:r>
          </a:p>
          <a:p>
            <a:pPr marL="285750" indent="-285750">
              <a:buFont typeface="Arial" panose="020B0604020202020204" pitchFamily="34" charset="0"/>
              <a:buChar char="•"/>
            </a:pPr>
            <a:r>
              <a:rPr lang="en-US" dirty="0"/>
              <a:t>Check if the data is correct. If correct, the bank should try to balance the customer base to reduce risk concentration.</a:t>
            </a:r>
          </a:p>
          <a:p>
            <a:pPr marL="285750" indent="-285750">
              <a:buFont typeface="Arial" panose="020B0604020202020204" pitchFamily="34" charset="0"/>
              <a:buChar char="•"/>
            </a:pPr>
            <a:r>
              <a:rPr lang="en-US" dirty="0"/>
              <a:t>Need to create</a:t>
            </a:r>
            <a:r>
              <a:rPr lang="en-IN" dirty="0"/>
              <a:t> a loan product specially for men’s. It’s a huge market we’ve ignored. </a:t>
            </a:r>
            <a:endParaRPr lang="en-US" dirty="0"/>
          </a:p>
        </p:txBody>
      </p:sp>
      <p:graphicFrame>
        <p:nvGraphicFramePr>
          <p:cNvPr id="15" name="Content Placeholder 14">
            <a:extLst>
              <a:ext uri="{FF2B5EF4-FFF2-40B4-BE49-F238E27FC236}">
                <a16:creationId xmlns:a16="http://schemas.microsoft.com/office/drawing/2014/main" id="{2D6177F1-75EE-45E5-8EAB-80FB596A3151}"/>
              </a:ext>
            </a:extLst>
          </p:cNvPr>
          <p:cNvGraphicFramePr>
            <a:graphicFrameLocks noGrp="1"/>
          </p:cNvGraphicFramePr>
          <p:nvPr>
            <p:ph idx="1"/>
            <p:extLst>
              <p:ext uri="{D42A27DB-BD31-4B8C-83A1-F6EECF244321}">
                <p14:modId xmlns:p14="http://schemas.microsoft.com/office/powerpoint/2010/main" val="2565314967"/>
              </p:ext>
            </p:extLst>
          </p:nvPr>
        </p:nvGraphicFramePr>
        <p:xfrm>
          <a:off x="-1" y="432001"/>
          <a:ext cx="4782394" cy="20313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ontent Placeholder 6">
            <a:extLst>
              <a:ext uri="{FF2B5EF4-FFF2-40B4-BE49-F238E27FC236}">
                <a16:creationId xmlns:a16="http://schemas.microsoft.com/office/drawing/2014/main" id="{243FA9B1-8D8A-4FFB-A708-509987CCE53B}"/>
              </a:ext>
            </a:extLst>
          </p:cNvPr>
          <p:cNvGraphicFramePr>
            <a:graphicFrameLocks/>
          </p:cNvGraphicFramePr>
          <p:nvPr>
            <p:extLst>
              <p:ext uri="{D42A27DB-BD31-4B8C-83A1-F6EECF244321}">
                <p14:modId xmlns:p14="http://schemas.microsoft.com/office/powerpoint/2010/main" val="1802387953"/>
              </p:ext>
            </p:extLst>
          </p:nvPr>
        </p:nvGraphicFramePr>
        <p:xfrm>
          <a:off x="-1" y="4742184"/>
          <a:ext cx="4782392" cy="2115816"/>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7454AE27-DE12-DFB3-838E-F1F9FAEB3D32}"/>
              </a:ext>
            </a:extLst>
          </p:cNvPr>
          <p:cNvSpPr txBox="1"/>
          <p:nvPr/>
        </p:nvSpPr>
        <p:spPr>
          <a:xfrm>
            <a:off x="4782390" y="4841424"/>
            <a:ext cx="6675929" cy="1754326"/>
          </a:xfrm>
          <a:prstGeom prst="rect">
            <a:avLst/>
          </a:prstGeom>
          <a:noFill/>
          <a:ln>
            <a:noFill/>
          </a:ln>
        </p:spPr>
        <p:txBody>
          <a:bodyPr wrap="square">
            <a:spAutoFit/>
          </a:bodyPr>
          <a:lstStyle/>
          <a:p>
            <a:r>
              <a:rPr lang="en-US" dirty="0"/>
              <a:t>🎯 Insight:</a:t>
            </a:r>
          </a:p>
          <a:p>
            <a:pPr marL="285750" indent="-285750">
              <a:buFont typeface="Arial" panose="020B0604020202020204" pitchFamily="34" charset="0"/>
              <a:buChar char="•"/>
            </a:pPr>
            <a:r>
              <a:rPr lang="en-US" dirty="0"/>
              <a:t>The increase shows business growth. The drop in 2020 may be due to economic slowdown (possibly COVID impact).</a:t>
            </a:r>
          </a:p>
          <a:p>
            <a:r>
              <a:rPr lang="en-US" dirty="0"/>
              <a:t>💡 Suggestion:</a:t>
            </a:r>
          </a:p>
          <a:p>
            <a:pPr marL="285750" indent="-285750">
              <a:buFont typeface="Arial" panose="020B0604020202020204" pitchFamily="34" charset="0"/>
              <a:buChar char="•"/>
            </a:pPr>
            <a:r>
              <a:rPr lang="en-US" dirty="0"/>
              <a:t>The bank should strengthen digital lending platforms. Also, create strategies to manage risks during economic crises.</a:t>
            </a:r>
            <a:endParaRPr lang="en-IN" dirty="0"/>
          </a:p>
        </p:txBody>
      </p:sp>
    </p:spTree>
    <p:extLst>
      <p:ext uri="{BB962C8B-B14F-4D97-AF65-F5344CB8AC3E}">
        <p14:creationId xmlns:p14="http://schemas.microsoft.com/office/powerpoint/2010/main" val="395238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5CF07-6C8E-7FF7-9B92-E09E95471C99}"/>
              </a:ext>
            </a:extLst>
          </p:cNvPr>
          <p:cNvSpPr>
            <a:spLocks noGrp="1"/>
          </p:cNvSpPr>
          <p:nvPr>
            <p:ph type="title"/>
          </p:nvPr>
        </p:nvSpPr>
        <p:spPr>
          <a:xfrm>
            <a:off x="0" y="4102"/>
            <a:ext cx="11328000" cy="432000"/>
          </a:xfrm>
        </p:spPr>
        <p:txBody>
          <a:bodyPr/>
          <a:lstStyle/>
          <a:p>
            <a:r>
              <a:rPr lang="en-US" dirty="0"/>
              <a:t>TABLEAU DASHBOARD</a:t>
            </a:r>
            <a:endParaRPr lang="en-IN" dirty="0"/>
          </a:p>
        </p:txBody>
      </p:sp>
      <p:sp>
        <p:nvSpPr>
          <p:cNvPr id="4" name="Footer Placeholder 3">
            <a:extLst>
              <a:ext uri="{FF2B5EF4-FFF2-40B4-BE49-F238E27FC236}">
                <a16:creationId xmlns:a16="http://schemas.microsoft.com/office/drawing/2014/main" id="{95284A87-99A2-2B6B-8021-B7246F172A17}"/>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025CFD7C-ED16-922A-F103-5F3DFE8435AF}"/>
              </a:ext>
            </a:extLst>
          </p:cNvPr>
          <p:cNvSpPr>
            <a:spLocks noGrp="1"/>
          </p:cNvSpPr>
          <p:nvPr>
            <p:ph type="sldNum" sz="quarter" idx="33"/>
          </p:nvPr>
        </p:nvSpPr>
        <p:spPr/>
        <p:txBody>
          <a:bodyPr/>
          <a:lstStyle/>
          <a:p>
            <a:fld id="{19B51A1E-902D-48AF-9020-955120F399B6}" type="slidenum">
              <a:rPr lang="en-US" noProof="0" smtClean="0"/>
              <a:pPr/>
              <a:t>6</a:t>
            </a:fld>
            <a:endParaRPr lang="en-US" noProof="0" dirty="0"/>
          </a:p>
        </p:txBody>
      </p:sp>
      <p:pic>
        <p:nvPicPr>
          <p:cNvPr id="14" name="Content Placeholder 13">
            <a:extLst>
              <a:ext uri="{FF2B5EF4-FFF2-40B4-BE49-F238E27FC236}">
                <a16:creationId xmlns:a16="http://schemas.microsoft.com/office/drawing/2014/main" id="{0CCE5789-D748-9A37-5AD1-F9E96C2E5F98}"/>
              </a:ext>
            </a:extLst>
          </p:cNvPr>
          <p:cNvPicPr>
            <a:picLocks noGrp="1" noChangeAspect="1"/>
          </p:cNvPicPr>
          <p:nvPr>
            <p:ph idx="1"/>
          </p:nvPr>
        </p:nvPicPr>
        <p:blipFill>
          <a:blip r:embed="rId2"/>
          <a:stretch>
            <a:fillRect/>
          </a:stretch>
        </p:blipFill>
        <p:spPr>
          <a:xfrm>
            <a:off x="0" y="356050"/>
            <a:ext cx="12191999" cy="6447301"/>
          </a:xfrm>
          <a:prstGeom prst="rect">
            <a:avLst/>
          </a:prstGeom>
        </p:spPr>
      </p:pic>
    </p:spTree>
    <p:extLst>
      <p:ext uri="{BB962C8B-B14F-4D97-AF65-F5344CB8AC3E}">
        <p14:creationId xmlns:p14="http://schemas.microsoft.com/office/powerpoint/2010/main" val="4211804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A0B74-E57C-BA3C-01D4-D1C015E45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23C97-2E75-8596-71D1-E7C2F5752023}"/>
              </a:ext>
            </a:extLst>
          </p:cNvPr>
          <p:cNvSpPr>
            <a:spLocks noGrp="1"/>
          </p:cNvSpPr>
          <p:nvPr>
            <p:ph type="title"/>
          </p:nvPr>
        </p:nvSpPr>
        <p:spPr>
          <a:xfrm>
            <a:off x="0" y="0"/>
            <a:ext cx="11328000" cy="432000"/>
          </a:xfrm>
        </p:spPr>
        <p:txBody>
          <a:bodyPr/>
          <a:lstStyle/>
          <a:p>
            <a:r>
              <a:rPr lang="en-US" dirty="0"/>
              <a:t>INSIGHTS AND SUGGESTIONS.</a:t>
            </a:r>
            <a:endParaRPr lang="en-IN" dirty="0"/>
          </a:p>
        </p:txBody>
      </p:sp>
      <p:sp>
        <p:nvSpPr>
          <p:cNvPr id="4" name="Footer Placeholder 3">
            <a:extLst>
              <a:ext uri="{FF2B5EF4-FFF2-40B4-BE49-F238E27FC236}">
                <a16:creationId xmlns:a16="http://schemas.microsoft.com/office/drawing/2014/main" id="{D7966031-631D-F6E3-52AE-DDAA5017965E}"/>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C3224573-8562-DEA5-F49B-3CB271929ACD}"/>
              </a:ext>
            </a:extLst>
          </p:cNvPr>
          <p:cNvSpPr>
            <a:spLocks noGrp="1"/>
          </p:cNvSpPr>
          <p:nvPr>
            <p:ph type="sldNum" sz="quarter" idx="33"/>
          </p:nvPr>
        </p:nvSpPr>
        <p:spPr/>
        <p:txBody>
          <a:bodyPr/>
          <a:lstStyle/>
          <a:p>
            <a:fld id="{19B51A1E-902D-48AF-9020-955120F399B6}" type="slidenum">
              <a:rPr lang="en-US" noProof="0" smtClean="0"/>
              <a:pPr/>
              <a:t>7</a:t>
            </a:fld>
            <a:endParaRPr lang="en-US" noProof="0" dirty="0"/>
          </a:p>
        </p:txBody>
      </p:sp>
      <p:pic>
        <p:nvPicPr>
          <p:cNvPr id="21" name="Content Placeholder 20">
            <a:extLst>
              <a:ext uri="{FF2B5EF4-FFF2-40B4-BE49-F238E27FC236}">
                <a16:creationId xmlns:a16="http://schemas.microsoft.com/office/drawing/2014/main" id="{DE384037-DD9A-712D-7A5E-1C246837D49C}"/>
              </a:ext>
            </a:extLst>
          </p:cNvPr>
          <p:cNvPicPr>
            <a:picLocks noGrp="1" noChangeAspect="1"/>
          </p:cNvPicPr>
          <p:nvPr>
            <p:ph idx="1"/>
          </p:nvPr>
        </p:nvPicPr>
        <p:blipFill>
          <a:blip r:embed="rId2"/>
          <a:stretch>
            <a:fillRect/>
          </a:stretch>
        </p:blipFill>
        <p:spPr>
          <a:xfrm>
            <a:off x="0" y="760796"/>
            <a:ext cx="5664000" cy="2464950"/>
          </a:xfrm>
          <a:prstGeom prst="rect">
            <a:avLst/>
          </a:prstGeom>
        </p:spPr>
      </p:pic>
      <p:sp>
        <p:nvSpPr>
          <p:cNvPr id="22" name="TextBox 21">
            <a:extLst>
              <a:ext uri="{FF2B5EF4-FFF2-40B4-BE49-F238E27FC236}">
                <a16:creationId xmlns:a16="http://schemas.microsoft.com/office/drawing/2014/main" id="{5AE95219-085C-CA0B-9AD9-4D6EAAD5BF1D}"/>
              </a:ext>
            </a:extLst>
          </p:cNvPr>
          <p:cNvSpPr txBox="1"/>
          <p:nvPr/>
        </p:nvSpPr>
        <p:spPr>
          <a:xfrm>
            <a:off x="5672304" y="423611"/>
            <a:ext cx="6634346" cy="3139321"/>
          </a:xfrm>
          <a:prstGeom prst="rect">
            <a:avLst/>
          </a:prstGeom>
          <a:noFill/>
        </p:spPr>
        <p:txBody>
          <a:bodyPr wrap="square" rtlCol="0">
            <a:spAutoFit/>
          </a:bodyPr>
          <a:lstStyle/>
          <a:p>
            <a:r>
              <a:rPr lang="en-US" dirty="0"/>
              <a:t>🎯Insights:</a:t>
            </a:r>
          </a:p>
          <a:p>
            <a:r>
              <a:rPr lang="en-US" dirty="0"/>
              <a:t>Loan disbursement peaked in March (₹121M) and September (₹102M).</a:t>
            </a:r>
          </a:p>
          <a:p>
            <a:r>
              <a:rPr lang="en-US" dirty="0"/>
              <a:t>Major drop observed in April (₹33M) and May.</a:t>
            </a:r>
          </a:p>
          <a:p>
            <a:r>
              <a:rPr lang="en-US" dirty="0"/>
              <a:t>After September, the trend stabilizes.</a:t>
            </a:r>
          </a:p>
          <a:p>
            <a:r>
              <a:rPr lang="en-US" dirty="0"/>
              <a:t>👉 There may be seasonal demand (financial year-end in March).</a:t>
            </a:r>
          </a:p>
          <a:p>
            <a:r>
              <a:rPr lang="en-US" dirty="0"/>
              <a:t>👉 April drop may be due to policy changes or reduced demand.</a:t>
            </a:r>
          </a:p>
          <a:p>
            <a:r>
              <a:rPr lang="en-US" dirty="0"/>
              <a:t>💡 Suggestions:</a:t>
            </a:r>
          </a:p>
          <a:p>
            <a:r>
              <a:rPr lang="en-US" dirty="0"/>
              <a:t>Investigate reasons for sharp drop in April.</a:t>
            </a:r>
          </a:p>
          <a:p>
            <a:r>
              <a:rPr lang="en-US" dirty="0"/>
              <a:t>Plan marketing campaigns before peak months.</a:t>
            </a:r>
          </a:p>
          <a:p>
            <a:r>
              <a:rPr lang="en-US" dirty="0"/>
              <a:t>Use predictive analysis to forecast high-demand months.</a:t>
            </a:r>
            <a:endParaRPr lang="en-IN" dirty="0"/>
          </a:p>
        </p:txBody>
      </p:sp>
      <p:sp>
        <p:nvSpPr>
          <p:cNvPr id="23" name="TextBox 22">
            <a:extLst>
              <a:ext uri="{FF2B5EF4-FFF2-40B4-BE49-F238E27FC236}">
                <a16:creationId xmlns:a16="http://schemas.microsoft.com/office/drawing/2014/main" id="{C9D1081B-4F45-8DFA-0C7F-81ADBE2FA085}"/>
              </a:ext>
            </a:extLst>
          </p:cNvPr>
          <p:cNvSpPr txBox="1"/>
          <p:nvPr/>
        </p:nvSpPr>
        <p:spPr>
          <a:xfrm>
            <a:off x="5672304" y="3776493"/>
            <a:ext cx="6634346" cy="2585323"/>
          </a:xfrm>
          <a:prstGeom prst="rect">
            <a:avLst/>
          </a:prstGeom>
          <a:noFill/>
        </p:spPr>
        <p:txBody>
          <a:bodyPr wrap="square" rtlCol="0">
            <a:spAutoFit/>
          </a:bodyPr>
          <a:lstStyle/>
          <a:p>
            <a:r>
              <a:rPr lang="en-US" dirty="0"/>
              <a:t>🎯 Insights:</a:t>
            </a:r>
          </a:p>
          <a:p>
            <a:r>
              <a:rPr lang="en-US" dirty="0"/>
              <a:t>Highest loans taken by Hindu customers (₹563M).</a:t>
            </a:r>
          </a:p>
          <a:p>
            <a:r>
              <a:rPr lang="en-US" dirty="0"/>
              <a:t>Sikh and Muslim segments also show significant contribution.</a:t>
            </a:r>
          </a:p>
          <a:p>
            <a:r>
              <a:rPr lang="en-US" dirty="0"/>
              <a:t>Christian segment is comparatively low.</a:t>
            </a:r>
          </a:p>
          <a:p>
            <a:r>
              <a:rPr lang="en-US" dirty="0"/>
              <a:t>👉 Loan distribution may reflect regional demographic patterns.</a:t>
            </a:r>
          </a:p>
          <a:p>
            <a:r>
              <a:rPr lang="en-US" dirty="0"/>
              <a:t>💡 Suggestions:</a:t>
            </a:r>
          </a:p>
          <a:p>
            <a:r>
              <a:rPr lang="en-US" dirty="0"/>
              <a:t>Ensure fair and inclusive lending policies.</a:t>
            </a:r>
          </a:p>
          <a:p>
            <a:r>
              <a:rPr lang="en-US" dirty="0"/>
              <a:t>Focus marketing campaigns in underrepresented communities.</a:t>
            </a:r>
          </a:p>
          <a:p>
            <a:r>
              <a:rPr lang="en-US" dirty="0"/>
              <a:t>Monitor for any unintentional bias.</a:t>
            </a:r>
            <a:endParaRPr lang="en-IN" dirty="0"/>
          </a:p>
        </p:txBody>
      </p:sp>
      <p:pic>
        <p:nvPicPr>
          <p:cNvPr id="25" name="Picture 24">
            <a:extLst>
              <a:ext uri="{FF2B5EF4-FFF2-40B4-BE49-F238E27FC236}">
                <a16:creationId xmlns:a16="http://schemas.microsoft.com/office/drawing/2014/main" id="{8743927A-EC03-34D0-B361-37D8F2278425}"/>
              </a:ext>
            </a:extLst>
          </p:cNvPr>
          <p:cNvPicPr>
            <a:picLocks noChangeAspect="1"/>
          </p:cNvPicPr>
          <p:nvPr/>
        </p:nvPicPr>
        <p:blipFill>
          <a:blip r:embed="rId3"/>
          <a:stretch>
            <a:fillRect/>
          </a:stretch>
        </p:blipFill>
        <p:spPr>
          <a:xfrm>
            <a:off x="1346" y="3646073"/>
            <a:ext cx="5670958" cy="2585323"/>
          </a:xfrm>
          <a:prstGeom prst="rect">
            <a:avLst/>
          </a:prstGeom>
        </p:spPr>
      </p:pic>
    </p:spTree>
    <p:extLst>
      <p:ext uri="{BB962C8B-B14F-4D97-AF65-F5344CB8AC3E}">
        <p14:creationId xmlns:p14="http://schemas.microsoft.com/office/powerpoint/2010/main" val="3826188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A8C8-08F5-3F4D-0C45-38317D150EA6}"/>
              </a:ext>
            </a:extLst>
          </p:cNvPr>
          <p:cNvSpPr>
            <a:spLocks noGrp="1"/>
          </p:cNvSpPr>
          <p:nvPr>
            <p:ph type="title"/>
          </p:nvPr>
        </p:nvSpPr>
        <p:spPr>
          <a:xfrm>
            <a:off x="26182" y="0"/>
            <a:ext cx="11328000" cy="432000"/>
          </a:xfrm>
        </p:spPr>
        <p:txBody>
          <a:bodyPr/>
          <a:lstStyle/>
          <a:p>
            <a:r>
              <a:rPr lang="en-US" dirty="0"/>
              <a:t>POWERBI DASHBOARD</a:t>
            </a:r>
            <a:endParaRPr lang="en-IN" dirty="0"/>
          </a:p>
        </p:txBody>
      </p:sp>
      <p:sp>
        <p:nvSpPr>
          <p:cNvPr id="3" name="Text Placeholder 2">
            <a:extLst>
              <a:ext uri="{FF2B5EF4-FFF2-40B4-BE49-F238E27FC236}">
                <a16:creationId xmlns:a16="http://schemas.microsoft.com/office/drawing/2014/main" id="{1CCE8F0D-F6B1-E4CD-9933-00EC2165E5CC}"/>
              </a:ext>
            </a:extLst>
          </p:cNvPr>
          <p:cNvSpPr>
            <a:spLocks noGrp="1"/>
          </p:cNvSpPr>
          <p:nvPr>
            <p:ph type="body" sz="quarter" idx="32"/>
          </p:nvPr>
        </p:nvSpPr>
        <p:spPr>
          <a:xfrm>
            <a:off x="431800" y="1007999"/>
            <a:ext cx="11339513" cy="5795351"/>
          </a:xfrm>
        </p:spPr>
        <p:txBody>
          <a:bodyPr/>
          <a:lstStyle/>
          <a:p>
            <a:endParaRPr lang="en-IN" dirty="0"/>
          </a:p>
        </p:txBody>
      </p:sp>
      <p:sp>
        <p:nvSpPr>
          <p:cNvPr id="4" name="Footer Placeholder 3">
            <a:extLst>
              <a:ext uri="{FF2B5EF4-FFF2-40B4-BE49-F238E27FC236}">
                <a16:creationId xmlns:a16="http://schemas.microsoft.com/office/drawing/2014/main" id="{95C497DD-FAFD-7471-C6CF-A974742A7901}"/>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6B68EE3D-9ACF-28AD-C697-833572E6778E}"/>
              </a:ext>
            </a:extLst>
          </p:cNvPr>
          <p:cNvSpPr>
            <a:spLocks noGrp="1"/>
          </p:cNvSpPr>
          <p:nvPr>
            <p:ph type="sldNum" sz="quarter" idx="33"/>
          </p:nvPr>
        </p:nvSpPr>
        <p:spPr/>
        <p:txBody>
          <a:bodyPr/>
          <a:lstStyle/>
          <a:p>
            <a:fld id="{19B51A1E-902D-48AF-9020-955120F399B6}" type="slidenum">
              <a:rPr lang="en-US" noProof="0" smtClean="0"/>
              <a:pPr/>
              <a:t>8</a:t>
            </a:fld>
            <a:endParaRPr lang="en-US" noProof="0" dirty="0"/>
          </a:p>
        </p:txBody>
      </p:sp>
      <p:pic>
        <p:nvPicPr>
          <p:cNvPr id="9" name="Picture 8">
            <a:extLst>
              <a:ext uri="{FF2B5EF4-FFF2-40B4-BE49-F238E27FC236}">
                <a16:creationId xmlns:a16="http://schemas.microsoft.com/office/drawing/2014/main" id="{C69F54D2-0C07-B96E-72EE-9462C0D207EE}"/>
              </a:ext>
            </a:extLst>
          </p:cNvPr>
          <p:cNvPicPr>
            <a:picLocks noChangeAspect="1"/>
          </p:cNvPicPr>
          <p:nvPr/>
        </p:nvPicPr>
        <p:blipFill>
          <a:blip r:embed="rId2"/>
          <a:stretch>
            <a:fillRect/>
          </a:stretch>
        </p:blipFill>
        <p:spPr>
          <a:xfrm>
            <a:off x="0" y="377350"/>
            <a:ext cx="12192000" cy="6480650"/>
          </a:xfrm>
          <a:prstGeom prst="rect">
            <a:avLst/>
          </a:prstGeom>
        </p:spPr>
      </p:pic>
    </p:spTree>
    <p:extLst>
      <p:ext uri="{BB962C8B-B14F-4D97-AF65-F5344CB8AC3E}">
        <p14:creationId xmlns:p14="http://schemas.microsoft.com/office/powerpoint/2010/main" val="3383808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B8BE-8997-E33B-8DCE-F6DC06219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25687-B6DC-3B8C-0899-B7E466B27B14}"/>
              </a:ext>
            </a:extLst>
          </p:cNvPr>
          <p:cNvSpPr>
            <a:spLocks noGrp="1"/>
          </p:cNvSpPr>
          <p:nvPr>
            <p:ph type="title"/>
          </p:nvPr>
        </p:nvSpPr>
        <p:spPr>
          <a:xfrm>
            <a:off x="0" y="0"/>
            <a:ext cx="11328000" cy="432000"/>
          </a:xfrm>
        </p:spPr>
        <p:txBody>
          <a:bodyPr/>
          <a:lstStyle/>
          <a:p>
            <a:r>
              <a:rPr lang="en-US" dirty="0"/>
              <a:t>INSIGHTS AND SUGGESTIONS.</a:t>
            </a:r>
            <a:endParaRPr lang="en-IN" dirty="0"/>
          </a:p>
        </p:txBody>
      </p:sp>
      <p:sp>
        <p:nvSpPr>
          <p:cNvPr id="4" name="Footer Placeholder 3">
            <a:extLst>
              <a:ext uri="{FF2B5EF4-FFF2-40B4-BE49-F238E27FC236}">
                <a16:creationId xmlns:a16="http://schemas.microsoft.com/office/drawing/2014/main" id="{94ACE71C-F3F0-D25A-481F-B3E3F2B2395A}"/>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2D503EE1-0822-50FF-E7FA-4CA3EAA17BDB}"/>
              </a:ext>
            </a:extLst>
          </p:cNvPr>
          <p:cNvSpPr>
            <a:spLocks noGrp="1"/>
          </p:cNvSpPr>
          <p:nvPr>
            <p:ph type="sldNum" sz="quarter" idx="33"/>
          </p:nvPr>
        </p:nvSpPr>
        <p:spPr/>
        <p:txBody>
          <a:bodyPr/>
          <a:lstStyle/>
          <a:p>
            <a:fld id="{19B51A1E-902D-48AF-9020-955120F399B6}" type="slidenum">
              <a:rPr lang="en-US" noProof="0" smtClean="0"/>
              <a:pPr/>
              <a:t>9</a:t>
            </a:fld>
            <a:endParaRPr lang="en-US" noProof="0" dirty="0"/>
          </a:p>
        </p:txBody>
      </p:sp>
      <p:sp>
        <p:nvSpPr>
          <p:cNvPr id="9" name="TextBox 8">
            <a:extLst>
              <a:ext uri="{FF2B5EF4-FFF2-40B4-BE49-F238E27FC236}">
                <a16:creationId xmlns:a16="http://schemas.microsoft.com/office/drawing/2014/main" id="{D259B260-DCCA-E9B7-D964-A749B0C2FCE2}"/>
              </a:ext>
            </a:extLst>
          </p:cNvPr>
          <p:cNvSpPr txBox="1"/>
          <p:nvPr/>
        </p:nvSpPr>
        <p:spPr>
          <a:xfrm>
            <a:off x="4488110" y="321385"/>
            <a:ext cx="8590327" cy="2031325"/>
          </a:xfrm>
          <a:prstGeom prst="rect">
            <a:avLst/>
          </a:prstGeom>
          <a:noFill/>
          <a:ln>
            <a:noFill/>
          </a:ln>
          <a:effectLst>
            <a:innerShdw blurRad="114300">
              <a:prstClr val="black"/>
            </a:innerShdw>
          </a:effectLst>
        </p:spPr>
        <p:txBody>
          <a:bodyPr wrap="square" rtlCol="0">
            <a:spAutoFit/>
          </a:bodyPr>
          <a:lstStyle/>
          <a:p>
            <a:r>
              <a:rPr lang="en-US" dirty="0"/>
              <a:t>🎯 Insights:</a:t>
            </a:r>
          </a:p>
          <a:p>
            <a:r>
              <a:rPr lang="en-US" dirty="0"/>
              <a:t>All three transaction methods are almost equally used.</a:t>
            </a:r>
          </a:p>
          <a:p>
            <a:r>
              <a:rPr lang="en-US" dirty="0"/>
              <a:t>👉 Customers are diversified in payment preferences.</a:t>
            </a:r>
          </a:p>
          <a:p>
            <a:r>
              <a:rPr lang="en-US" dirty="0"/>
              <a:t>💡 Suggestions:</a:t>
            </a:r>
          </a:p>
          <a:p>
            <a:r>
              <a:rPr lang="en-US" dirty="0"/>
              <a:t>Maintain equal support &amp; security across all channels.</a:t>
            </a:r>
          </a:p>
          <a:p>
            <a:r>
              <a:rPr lang="en-US" dirty="0"/>
              <a:t>Run promotional offers on slightly lower-used method to balance usage.</a:t>
            </a:r>
          </a:p>
          <a:p>
            <a:r>
              <a:rPr lang="en-US" dirty="0"/>
              <a:t>Monitor fraud risk across all equally.</a:t>
            </a:r>
            <a:endParaRPr lang="en-IN" dirty="0"/>
          </a:p>
        </p:txBody>
      </p:sp>
      <p:sp>
        <p:nvSpPr>
          <p:cNvPr id="11" name="TextBox 10">
            <a:extLst>
              <a:ext uri="{FF2B5EF4-FFF2-40B4-BE49-F238E27FC236}">
                <a16:creationId xmlns:a16="http://schemas.microsoft.com/office/drawing/2014/main" id="{6D3DEC26-3254-76DE-4F81-2525263653B1}"/>
              </a:ext>
            </a:extLst>
          </p:cNvPr>
          <p:cNvSpPr txBox="1"/>
          <p:nvPr/>
        </p:nvSpPr>
        <p:spPr>
          <a:xfrm>
            <a:off x="4488110" y="2322399"/>
            <a:ext cx="7592037" cy="2308324"/>
          </a:xfrm>
          <a:prstGeom prst="rect">
            <a:avLst/>
          </a:prstGeom>
          <a:noFill/>
          <a:ln>
            <a:noFill/>
          </a:ln>
        </p:spPr>
        <p:txBody>
          <a:bodyPr wrap="square" rtlCol="0">
            <a:spAutoFit/>
          </a:bodyPr>
          <a:lstStyle/>
          <a:p>
            <a:r>
              <a:rPr lang="en-US" dirty="0"/>
              <a:t>🎯 Insights:</a:t>
            </a:r>
          </a:p>
          <a:p>
            <a:r>
              <a:rPr lang="en-US" dirty="0"/>
              <a:t>All banks have very close transaction counts.</a:t>
            </a:r>
          </a:p>
          <a:p>
            <a:r>
              <a:rPr lang="en-US" dirty="0"/>
              <a:t>No bank is extremely dominating.</a:t>
            </a:r>
          </a:p>
          <a:p>
            <a:r>
              <a:rPr lang="en-US" dirty="0"/>
              <a:t>👉 Customer distribution is evenly spread.</a:t>
            </a:r>
          </a:p>
          <a:p>
            <a:r>
              <a:rPr lang="en-US" dirty="0"/>
              <a:t>💡 Suggestions:</a:t>
            </a:r>
          </a:p>
          <a:p>
            <a:r>
              <a:rPr lang="en-US" dirty="0"/>
              <a:t>Focus on customer retention since competition is close.</a:t>
            </a:r>
          </a:p>
          <a:p>
            <a:r>
              <a:rPr lang="en-US" dirty="0"/>
              <a:t>Introduce loyalty programs for high-frequency banks.</a:t>
            </a:r>
          </a:p>
          <a:p>
            <a:r>
              <a:rPr lang="en-US" dirty="0"/>
              <a:t>Study small differences to identify growth opportunities.</a:t>
            </a:r>
          </a:p>
        </p:txBody>
      </p:sp>
      <p:sp>
        <p:nvSpPr>
          <p:cNvPr id="18" name="TextBox 17">
            <a:extLst>
              <a:ext uri="{FF2B5EF4-FFF2-40B4-BE49-F238E27FC236}">
                <a16:creationId xmlns:a16="http://schemas.microsoft.com/office/drawing/2014/main" id="{5A4AFEEF-804F-4FE9-0482-53B86F004B9B}"/>
              </a:ext>
            </a:extLst>
          </p:cNvPr>
          <p:cNvSpPr txBox="1"/>
          <p:nvPr/>
        </p:nvSpPr>
        <p:spPr>
          <a:xfrm>
            <a:off x="4492430" y="4658107"/>
            <a:ext cx="7699570" cy="2031325"/>
          </a:xfrm>
          <a:prstGeom prst="rect">
            <a:avLst/>
          </a:prstGeom>
          <a:noFill/>
          <a:ln>
            <a:noFill/>
          </a:ln>
        </p:spPr>
        <p:txBody>
          <a:bodyPr wrap="square">
            <a:spAutoFit/>
          </a:bodyPr>
          <a:lstStyle/>
          <a:p>
            <a:r>
              <a:rPr lang="en-US" dirty="0"/>
              <a:t>🎯 Insights:</a:t>
            </a:r>
          </a:p>
          <a:p>
            <a:r>
              <a:rPr lang="en-US" dirty="0"/>
              <a:t>Each branch contributes almost similar amounts (around 42M).</a:t>
            </a:r>
          </a:p>
          <a:p>
            <a:r>
              <a:rPr lang="en-US" dirty="0"/>
              <a:t>👉 Branch performance is well balanced.</a:t>
            </a:r>
          </a:p>
          <a:p>
            <a:r>
              <a:rPr lang="en-US" dirty="0"/>
              <a:t>💡 Suggestions:</a:t>
            </a:r>
          </a:p>
          <a:p>
            <a:r>
              <a:rPr lang="en-US" dirty="0" err="1"/>
              <a:t>Analyse</a:t>
            </a:r>
            <a:r>
              <a:rPr lang="en-US" dirty="0"/>
              <a:t> cost vs revenue per branch.</a:t>
            </a:r>
          </a:p>
          <a:p>
            <a:r>
              <a:rPr lang="en-US" dirty="0"/>
              <a:t>Identify which branch has higher profitability (not just total amount).</a:t>
            </a:r>
          </a:p>
          <a:p>
            <a:r>
              <a:rPr lang="en-US" dirty="0"/>
              <a:t>Expand model of best-performing branch.</a:t>
            </a:r>
            <a:endParaRPr lang="en-IN" dirty="0"/>
          </a:p>
        </p:txBody>
      </p:sp>
      <p:pic>
        <p:nvPicPr>
          <p:cNvPr id="8" name="Content Placeholder 7">
            <a:extLst>
              <a:ext uri="{FF2B5EF4-FFF2-40B4-BE49-F238E27FC236}">
                <a16:creationId xmlns:a16="http://schemas.microsoft.com/office/drawing/2014/main" id="{FDFDDDEE-ED49-4996-BB72-B678AF4325B5}"/>
              </a:ext>
            </a:extLst>
          </p:cNvPr>
          <p:cNvPicPr>
            <a:picLocks noGrp="1" noChangeAspect="1"/>
          </p:cNvPicPr>
          <p:nvPr>
            <p:ph idx="1"/>
          </p:nvPr>
        </p:nvPicPr>
        <p:blipFill>
          <a:blip r:embed="rId2"/>
          <a:stretch>
            <a:fillRect/>
          </a:stretch>
        </p:blipFill>
        <p:spPr>
          <a:xfrm>
            <a:off x="0" y="356050"/>
            <a:ext cx="4361607" cy="1961997"/>
          </a:xfrm>
          <a:prstGeom prst="rect">
            <a:avLst/>
          </a:prstGeom>
        </p:spPr>
      </p:pic>
      <p:pic>
        <p:nvPicPr>
          <p:cNvPr id="13" name="Picture 12">
            <a:extLst>
              <a:ext uri="{FF2B5EF4-FFF2-40B4-BE49-F238E27FC236}">
                <a16:creationId xmlns:a16="http://schemas.microsoft.com/office/drawing/2014/main" id="{02838C30-C5B0-2CFC-6E05-4227EA05DEED}"/>
              </a:ext>
            </a:extLst>
          </p:cNvPr>
          <p:cNvPicPr>
            <a:picLocks noChangeAspect="1"/>
          </p:cNvPicPr>
          <p:nvPr/>
        </p:nvPicPr>
        <p:blipFill>
          <a:blip r:embed="rId3"/>
          <a:stretch>
            <a:fillRect/>
          </a:stretch>
        </p:blipFill>
        <p:spPr>
          <a:xfrm>
            <a:off x="-87111" y="2439523"/>
            <a:ext cx="4448718" cy="2100431"/>
          </a:xfrm>
          <a:prstGeom prst="rect">
            <a:avLst/>
          </a:prstGeom>
        </p:spPr>
      </p:pic>
      <p:pic>
        <p:nvPicPr>
          <p:cNvPr id="17" name="Picture 16">
            <a:extLst>
              <a:ext uri="{FF2B5EF4-FFF2-40B4-BE49-F238E27FC236}">
                <a16:creationId xmlns:a16="http://schemas.microsoft.com/office/drawing/2014/main" id="{594FD408-15D9-61E4-9F89-05C03CA4BFEE}"/>
              </a:ext>
            </a:extLst>
          </p:cNvPr>
          <p:cNvPicPr>
            <a:picLocks noChangeAspect="1"/>
          </p:cNvPicPr>
          <p:nvPr/>
        </p:nvPicPr>
        <p:blipFill>
          <a:blip r:embed="rId4"/>
          <a:stretch>
            <a:fillRect/>
          </a:stretch>
        </p:blipFill>
        <p:spPr>
          <a:xfrm>
            <a:off x="0" y="4630723"/>
            <a:ext cx="4361607" cy="2172628"/>
          </a:xfrm>
          <a:prstGeom prst="rect">
            <a:avLst/>
          </a:prstGeom>
        </p:spPr>
      </p:pic>
    </p:spTree>
    <p:extLst>
      <p:ext uri="{BB962C8B-B14F-4D97-AF65-F5344CB8AC3E}">
        <p14:creationId xmlns:p14="http://schemas.microsoft.com/office/powerpoint/2010/main" val="2457014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8FEB-CC20-63C2-2DA1-27F86EE4D122}"/>
              </a:ext>
            </a:extLst>
          </p:cNvPr>
          <p:cNvSpPr>
            <a:spLocks noGrp="1"/>
          </p:cNvSpPr>
          <p:nvPr>
            <p:ph type="title"/>
          </p:nvPr>
        </p:nvSpPr>
        <p:spPr>
          <a:xfrm>
            <a:off x="0" y="0"/>
            <a:ext cx="11340000" cy="432000"/>
          </a:xfrm>
        </p:spPr>
        <p:txBody>
          <a:bodyPr/>
          <a:lstStyle/>
          <a:p>
            <a:r>
              <a:rPr lang="en-US" dirty="0"/>
              <a:t>SQL QUERIES</a:t>
            </a:r>
            <a:endParaRPr lang="en-IN" dirty="0"/>
          </a:p>
        </p:txBody>
      </p:sp>
      <p:sp>
        <p:nvSpPr>
          <p:cNvPr id="3" name="Text Placeholder 2">
            <a:extLst>
              <a:ext uri="{FF2B5EF4-FFF2-40B4-BE49-F238E27FC236}">
                <a16:creationId xmlns:a16="http://schemas.microsoft.com/office/drawing/2014/main" id="{691784B7-5A7E-03BD-D4A6-A2F2DDFDDE21}"/>
              </a:ext>
            </a:extLst>
          </p:cNvPr>
          <p:cNvSpPr>
            <a:spLocks noGrp="1"/>
          </p:cNvSpPr>
          <p:nvPr>
            <p:ph type="body" sz="quarter" idx="32"/>
          </p:nvPr>
        </p:nvSpPr>
        <p:spPr>
          <a:xfrm>
            <a:off x="487" y="446520"/>
            <a:ext cx="6893927" cy="360000"/>
          </a:xfrm>
        </p:spPr>
        <p:txBody>
          <a:bodyPr/>
          <a:lstStyle/>
          <a:p>
            <a:r>
              <a:rPr lang="en-US" dirty="0"/>
              <a:t>SUB QUERY, WINDOW’S FUNCTION, VIEW AND STORED PROCEDURE.</a:t>
            </a:r>
            <a:endParaRPr lang="en-IN" dirty="0"/>
          </a:p>
        </p:txBody>
      </p:sp>
      <p:sp>
        <p:nvSpPr>
          <p:cNvPr id="4" name="Content Placeholder 3">
            <a:extLst>
              <a:ext uri="{FF2B5EF4-FFF2-40B4-BE49-F238E27FC236}">
                <a16:creationId xmlns:a16="http://schemas.microsoft.com/office/drawing/2014/main" id="{B9CC66B1-49C8-DFAF-2607-E8085C7FECBB}"/>
              </a:ext>
            </a:extLst>
          </p:cNvPr>
          <p:cNvSpPr>
            <a:spLocks noGrp="1"/>
          </p:cNvSpPr>
          <p:nvPr>
            <p:ph sz="half" idx="1"/>
          </p:nvPr>
        </p:nvSpPr>
        <p:spPr>
          <a:xfrm>
            <a:off x="66436" y="845023"/>
            <a:ext cx="5484700" cy="4680002"/>
          </a:xfrm>
        </p:spPr>
        <p:txBody>
          <a:bodyPr/>
          <a:lstStyle/>
          <a:p>
            <a:r>
              <a:rPr lang="en-US" dirty="0"/>
              <a:t>SUB QUERY</a:t>
            </a:r>
          </a:p>
          <a:p>
            <a:endParaRPr lang="en-US" dirty="0"/>
          </a:p>
          <a:p>
            <a:endParaRPr lang="en-US" dirty="0"/>
          </a:p>
          <a:p>
            <a:endParaRPr lang="en-US" dirty="0"/>
          </a:p>
          <a:p>
            <a:endParaRPr lang="en-US" dirty="0"/>
          </a:p>
          <a:p>
            <a:endParaRPr lang="en-US" dirty="0"/>
          </a:p>
          <a:p>
            <a:endParaRPr lang="en-US" dirty="0"/>
          </a:p>
          <a:p>
            <a:endParaRPr lang="en-US" dirty="0"/>
          </a:p>
          <a:p>
            <a:r>
              <a:rPr lang="en-US" dirty="0"/>
              <a:t>WINDOW’S FUNCTION</a:t>
            </a:r>
            <a:endParaRPr lang="en-IN" dirty="0"/>
          </a:p>
        </p:txBody>
      </p:sp>
      <p:sp>
        <p:nvSpPr>
          <p:cNvPr id="5" name="Text Placeholder 4">
            <a:extLst>
              <a:ext uri="{FF2B5EF4-FFF2-40B4-BE49-F238E27FC236}">
                <a16:creationId xmlns:a16="http://schemas.microsoft.com/office/drawing/2014/main" id="{33DE043B-7F6E-4DD7-204A-D9405186F069}"/>
              </a:ext>
            </a:extLst>
          </p:cNvPr>
          <p:cNvSpPr>
            <a:spLocks noGrp="1"/>
          </p:cNvSpPr>
          <p:nvPr>
            <p:ph type="body" sz="quarter" idx="12"/>
          </p:nvPr>
        </p:nvSpPr>
        <p:spPr>
          <a:xfrm>
            <a:off x="3999073" y="845024"/>
            <a:ext cx="7748803" cy="5594795"/>
          </a:xfrm>
        </p:spPr>
        <p:txBody>
          <a:bodyPr/>
          <a:lstStyle/>
          <a:p>
            <a:r>
              <a:rPr lang="en-US" dirty="0"/>
              <a:t>  STORED PROCEDURE                                     KPI’S</a:t>
            </a:r>
            <a:endParaRPr lang="en-IN" dirty="0"/>
          </a:p>
          <a:p>
            <a:pPr marL="0" indent="0">
              <a:buNone/>
            </a:pPr>
            <a:endParaRPr lang="en-IN" dirty="0"/>
          </a:p>
          <a:p>
            <a:endParaRPr lang="en-IN" dirty="0"/>
          </a:p>
          <a:p>
            <a:pPr marL="0" indent="0">
              <a:buNone/>
            </a:pPr>
            <a:endParaRPr lang="en-IN" dirty="0"/>
          </a:p>
          <a:p>
            <a:pPr marL="0" indent="0">
              <a:buNone/>
            </a:pPr>
            <a:endParaRPr lang="en-IN" dirty="0"/>
          </a:p>
          <a:p>
            <a:pPr marL="0" indent="0">
              <a:buNone/>
            </a:pPr>
            <a:endParaRPr lang="en-IN" dirty="0"/>
          </a:p>
          <a:p>
            <a:endParaRPr lang="en-US" dirty="0"/>
          </a:p>
          <a:p>
            <a:endParaRPr lang="en-US" dirty="0"/>
          </a:p>
          <a:p>
            <a:r>
              <a:rPr lang="en-US" dirty="0"/>
              <a:t>VIEW</a:t>
            </a:r>
          </a:p>
          <a:p>
            <a:endParaRPr lang="en-IN" dirty="0"/>
          </a:p>
        </p:txBody>
      </p:sp>
      <p:sp>
        <p:nvSpPr>
          <p:cNvPr id="7" name="Footer Placeholder 6">
            <a:extLst>
              <a:ext uri="{FF2B5EF4-FFF2-40B4-BE49-F238E27FC236}">
                <a16:creationId xmlns:a16="http://schemas.microsoft.com/office/drawing/2014/main" id="{12A57BAA-053A-EADA-91C9-64B8AAD4AA2A}"/>
              </a:ext>
            </a:extLst>
          </p:cNvPr>
          <p:cNvSpPr>
            <a:spLocks noGrp="1"/>
          </p:cNvSpPr>
          <p:nvPr>
            <p:ph type="ftr" sz="quarter" idx="13"/>
          </p:nvPr>
        </p:nvSpPr>
        <p:spPr/>
        <p:txBody>
          <a:bodyPr/>
          <a:lstStyle/>
          <a:p>
            <a:r>
              <a:rPr lang="en-US" noProof="0"/>
              <a:t>Add a footer</a:t>
            </a:r>
            <a:endParaRPr lang="en-US" noProof="0" dirty="0"/>
          </a:p>
        </p:txBody>
      </p:sp>
      <p:sp>
        <p:nvSpPr>
          <p:cNvPr id="8" name="Slide Number Placeholder 7">
            <a:extLst>
              <a:ext uri="{FF2B5EF4-FFF2-40B4-BE49-F238E27FC236}">
                <a16:creationId xmlns:a16="http://schemas.microsoft.com/office/drawing/2014/main" id="{C739CD33-265D-482B-0EE4-DC818471EFA2}"/>
              </a:ext>
            </a:extLst>
          </p:cNvPr>
          <p:cNvSpPr>
            <a:spLocks noGrp="1"/>
          </p:cNvSpPr>
          <p:nvPr>
            <p:ph type="sldNum" sz="quarter" idx="33"/>
          </p:nvPr>
        </p:nvSpPr>
        <p:spPr/>
        <p:txBody>
          <a:bodyPr/>
          <a:lstStyle/>
          <a:p>
            <a:fld id="{19B51A1E-902D-48AF-9020-955120F399B6}" type="slidenum">
              <a:rPr lang="en-US" noProof="0" smtClean="0"/>
              <a:pPr/>
              <a:t>10</a:t>
            </a:fld>
            <a:endParaRPr lang="en-US" noProof="0" dirty="0"/>
          </a:p>
        </p:txBody>
      </p:sp>
      <p:pic>
        <p:nvPicPr>
          <p:cNvPr id="12" name="Picture 11">
            <a:extLst>
              <a:ext uri="{FF2B5EF4-FFF2-40B4-BE49-F238E27FC236}">
                <a16:creationId xmlns:a16="http://schemas.microsoft.com/office/drawing/2014/main" id="{C817C243-FACF-85A2-FF5E-BE29C480914A}"/>
              </a:ext>
            </a:extLst>
          </p:cNvPr>
          <p:cNvPicPr>
            <a:picLocks noChangeAspect="1"/>
          </p:cNvPicPr>
          <p:nvPr/>
        </p:nvPicPr>
        <p:blipFill>
          <a:blip r:embed="rId2"/>
          <a:stretch>
            <a:fillRect/>
          </a:stretch>
        </p:blipFill>
        <p:spPr>
          <a:xfrm>
            <a:off x="66557" y="1132912"/>
            <a:ext cx="3787278" cy="2641222"/>
          </a:xfrm>
          <a:prstGeom prst="rect">
            <a:avLst/>
          </a:prstGeom>
          <a:effectLst>
            <a:innerShdw blurRad="114300">
              <a:prstClr val="black"/>
            </a:innerShdw>
          </a:effectLst>
        </p:spPr>
      </p:pic>
      <p:pic>
        <p:nvPicPr>
          <p:cNvPr id="14" name="Picture 13">
            <a:extLst>
              <a:ext uri="{FF2B5EF4-FFF2-40B4-BE49-F238E27FC236}">
                <a16:creationId xmlns:a16="http://schemas.microsoft.com/office/drawing/2014/main" id="{4F01837B-C582-436D-A53F-D59BF22A7DAE}"/>
              </a:ext>
            </a:extLst>
          </p:cNvPr>
          <p:cNvPicPr>
            <a:picLocks noChangeAspect="1"/>
          </p:cNvPicPr>
          <p:nvPr/>
        </p:nvPicPr>
        <p:blipFill>
          <a:blip r:embed="rId3"/>
          <a:stretch>
            <a:fillRect/>
          </a:stretch>
        </p:blipFill>
        <p:spPr>
          <a:xfrm>
            <a:off x="78681" y="4187159"/>
            <a:ext cx="3787278" cy="2593165"/>
          </a:xfrm>
          <a:prstGeom prst="rect">
            <a:avLst/>
          </a:prstGeom>
          <a:effectLst>
            <a:innerShdw blurRad="114300">
              <a:prstClr val="black"/>
            </a:innerShdw>
          </a:effectLst>
        </p:spPr>
      </p:pic>
      <p:pic>
        <p:nvPicPr>
          <p:cNvPr id="16" name="Picture 15">
            <a:extLst>
              <a:ext uri="{FF2B5EF4-FFF2-40B4-BE49-F238E27FC236}">
                <a16:creationId xmlns:a16="http://schemas.microsoft.com/office/drawing/2014/main" id="{A109B793-2A58-8F5E-4D3E-17E54D1C98BB}"/>
              </a:ext>
            </a:extLst>
          </p:cNvPr>
          <p:cNvPicPr>
            <a:picLocks noChangeAspect="1"/>
          </p:cNvPicPr>
          <p:nvPr/>
        </p:nvPicPr>
        <p:blipFill>
          <a:blip r:embed="rId4"/>
          <a:stretch>
            <a:fillRect/>
          </a:stretch>
        </p:blipFill>
        <p:spPr>
          <a:xfrm>
            <a:off x="4144310" y="4187159"/>
            <a:ext cx="3937661" cy="2593165"/>
          </a:xfrm>
          <a:prstGeom prst="rect">
            <a:avLst/>
          </a:prstGeom>
          <a:effectLst>
            <a:innerShdw blurRad="114300">
              <a:prstClr val="black"/>
            </a:innerShdw>
          </a:effectLst>
        </p:spPr>
      </p:pic>
      <p:pic>
        <p:nvPicPr>
          <p:cNvPr id="31" name="Picture 30">
            <a:extLst>
              <a:ext uri="{FF2B5EF4-FFF2-40B4-BE49-F238E27FC236}">
                <a16:creationId xmlns:a16="http://schemas.microsoft.com/office/drawing/2014/main" id="{60332DB2-0B8B-59F7-CF0A-E0254E209EBB}"/>
              </a:ext>
            </a:extLst>
          </p:cNvPr>
          <p:cNvPicPr>
            <a:picLocks noChangeAspect="1"/>
          </p:cNvPicPr>
          <p:nvPr/>
        </p:nvPicPr>
        <p:blipFill>
          <a:blip r:embed="rId5"/>
          <a:stretch>
            <a:fillRect/>
          </a:stretch>
        </p:blipFill>
        <p:spPr>
          <a:xfrm>
            <a:off x="4144311" y="1132912"/>
            <a:ext cx="3937661" cy="2641222"/>
          </a:xfrm>
          <a:prstGeom prst="rect">
            <a:avLst/>
          </a:prstGeom>
          <a:effectLst>
            <a:innerShdw blurRad="114300">
              <a:prstClr val="black"/>
            </a:innerShdw>
          </a:effectLst>
        </p:spPr>
      </p:pic>
      <p:pic>
        <p:nvPicPr>
          <p:cNvPr id="33" name="Picture 32">
            <a:extLst>
              <a:ext uri="{FF2B5EF4-FFF2-40B4-BE49-F238E27FC236}">
                <a16:creationId xmlns:a16="http://schemas.microsoft.com/office/drawing/2014/main" id="{0C42FBB7-8A72-6418-5D04-75974B038E4D}"/>
              </a:ext>
            </a:extLst>
          </p:cNvPr>
          <p:cNvPicPr>
            <a:picLocks noChangeAspect="1"/>
          </p:cNvPicPr>
          <p:nvPr/>
        </p:nvPicPr>
        <p:blipFill>
          <a:blip r:embed="rId6"/>
          <a:stretch>
            <a:fillRect/>
          </a:stretch>
        </p:blipFill>
        <p:spPr>
          <a:xfrm>
            <a:off x="8309683" y="1132912"/>
            <a:ext cx="3528998" cy="5647411"/>
          </a:xfrm>
          <a:prstGeom prst="rect">
            <a:avLst/>
          </a:prstGeom>
          <a:effectLst>
            <a:innerShdw blurRad="114300">
              <a:prstClr val="black"/>
            </a:innerShdw>
          </a:effectLst>
        </p:spPr>
      </p:pic>
    </p:spTree>
    <p:extLst>
      <p:ext uri="{BB962C8B-B14F-4D97-AF65-F5344CB8AC3E}">
        <p14:creationId xmlns:p14="http://schemas.microsoft.com/office/powerpoint/2010/main" val="1972336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ABB8-158E-77BD-738F-D1DA1782DC01}"/>
              </a:ext>
            </a:extLst>
          </p:cNvPr>
          <p:cNvSpPr>
            <a:spLocks noGrp="1"/>
          </p:cNvSpPr>
          <p:nvPr>
            <p:ph type="title"/>
          </p:nvPr>
        </p:nvSpPr>
        <p:spPr>
          <a:xfrm>
            <a:off x="152400" y="216000"/>
            <a:ext cx="11328000" cy="432000"/>
          </a:xfrm>
        </p:spPr>
        <p:txBody>
          <a:bodyPr/>
          <a:lstStyle/>
          <a:p>
            <a:r>
              <a:rPr lang="en-US" dirty="0"/>
              <a:t>SUMMARY</a:t>
            </a:r>
            <a:endParaRPr lang="en-IN" dirty="0"/>
          </a:p>
        </p:txBody>
      </p:sp>
      <p:sp>
        <p:nvSpPr>
          <p:cNvPr id="3" name="Text Placeholder 2">
            <a:extLst>
              <a:ext uri="{FF2B5EF4-FFF2-40B4-BE49-F238E27FC236}">
                <a16:creationId xmlns:a16="http://schemas.microsoft.com/office/drawing/2014/main" id="{C55D3218-5148-C1A6-2C44-481E5C18A165}"/>
              </a:ext>
            </a:extLst>
          </p:cNvPr>
          <p:cNvSpPr>
            <a:spLocks noGrp="1"/>
          </p:cNvSpPr>
          <p:nvPr>
            <p:ph type="body" sz="quarter" idx="32"/>
          </p:nvPr>
        </p:nvSpPr>
        <p:spPr>
          <a:xfrm>
            <a:off x="0" y="432000"/>
            <a:ext cx="10778067" cy="6426000"/>
          </a:xfrm>
        </p:spPr>
        <p:txBody>
          <a:bodyPr/>
          <a:lstStyle/>
          <a:p>
            <a:endParaRPr lang="en-US" dirty="0"/>
          </a:p>
          <a:p>
            <a:pPr marL="342900" indent="-342900">
              <a:buFont typeface="Arial" panose="020B0604020202020204" pitchFamily="34" charset="0"/>
              <a:buChar char="•"/>
            </a:pPr>
            <a:r>
              <a:rPr lang="en-US" sz="2000" dirty="0"/>
              <a:t>This project successfully demonstrates the development of a comprehensive banking analysis system consisting of two major modules: Bank Loan Management and Credit &amp; Debit Card System.</a:t>
            </a:r>
          </a:p>
          <a:p>
            <a:pPr marL="342900" indent="-342900">
              <a:buFont typeface="Arial" panose="020B0604020202020204" pitchFamily="34" charset="0"/>
              <a:buChar char="•"/>
            </a:pPr>
            <a:r>
              <a:rPr lang="en-US" sz="2000" dirty="0"/>
              <a:t>The Bank Loan module focuses on managing the complete loan lifecycle — from application processing and eligibility verification to approval, interest calculation, and repayment tracking. The Credit &amp; Debit module ensures smooth card issuance, transaction monitoring, secure payments, and balance management.</a:t>
            </a:r>
          </a:p>
          <a:p>
            <a:pPr marL="342900" indent="-342900">
              <a:buFont typeface="Arial" panose="020B0604020202020204" pitchFamily="34" charset="0"/>
              <a:buChar char="•"/>
            </a:pPr>
            <a:r>
              <a:rPr lang="en-US" sz="2000" dirty="0"/>
              <a:t>Through the analysis of key performance indicators (KPIs), we observed strong financial performance. The total loan disbursed and repayment collection indicate healthy profitability, supported further by interest income and fee generation. The credit and debit transaction data reflects balanced customer usage patterns and stable transaction volumes across banks and branches.</a:t>
            </a:r>
          </a:p>
          <a:p>
            <a:pPr marL="342900" indent="-342900">
              <a:buFont typeface="Arial" panose="020B0604020202020204" pitchFamily="34" charset="0"/>
              <a:buChar char="•"/>
            </a:pPr>
            <a:r>
              <a:rPr lang="en-US" sz="2000" dirty="0"/>
              <a:t>Using tools such as Excel, SQL, Tableau, and Power BI, we transformed raw banking data into meaningful insights. SQL was used for efficient data management, including subqueries, window functions, views, and stored procedures, while visualization tools helped identify trends, seasonal patterns, regional performance, and customer behavior.</a:t>
            </a:r>
          </a:p>
          <a:p>
            <a:pPr marL="342900" indent="-342900">
              <a:buFont typeface="Arial" panose="020B0604020202020204" pitchFamily="34" charset="0"/>
              <a:buChar char="•"/>
            </a:pPr>
            <a:r>
              <a:rPr lang="en-US" sz="2000" dirty="0"/>
              <a:t>Overall, the dashboards provide a clear, data-driven view of financial performance, operational efficiency, and customer distribution.</a:t>
            </a:r>
            <a:endParaRPr lang="en-IN" sz="2000" dirty="0"/>
          </a:p>
        </p:txBody>
      </p:sp>
      <p:sp>
        <p:nvSpPr>
          <p:cNvPr id="4" name="Footer Placeholder 3">
            <a:extLst>
              <a:ext uri="{FF2B5EF4-FFF2-40B4-BE49-F238E27FC236}">
                <a16:creationId xmlns:a16="http://schemas.microsoft.com/office/drawing/2014/main" id="{9C3A8CD4-4484-6EF6-9175-B715DA3EAB25}"/>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81B3CD1D-AE9B-C554-39B2-30E07C30739C}"/>
              </a:ext>
            </a:extLst>
          </p:cNvPr>
          <p:cNvSpPr>
            <a:spLocks noGrp="1"/>
          </p:cNvSpPr>
          <p:nvPr>
            <p:ph type="sldNum" sz="quarter" idx="33"/>
          </p:nvPr>
        </p:nvSpPr>
        <p:spPr/>
        <p:txBody>
          <a:bodyPr/>
          <a:lstStyle/>
          <a:p>
            <a:fld id="{19B51A1E-902D-48AF-9020-955120F399B6}" type="slidenum">
              <a:rPr lang="en-US" noProof="0" smtClean="0"/>
              <a:pPr/>
              <a:t>11</a:t>
            </a:fld>
            <a:endParaRPr lang="en-US" noProof="0" dirty="0"/>
          </a:p>
        </p:txBody>
      </p:sp>
    </p:spTree>
    <p:extLst>
      <p:ext uri="{BB962C8B-B14F-4D97-AF65-F5344CB8AC3E}">
        <p14:creationId xmlns:p14="http://schemas.microsoft.com/office/powerpoint/2010/main" val="2518530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81FBF-5BF3-D7BB-F64F-EBB44CD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ACD53-C57C-BD50-81E0-8B4BD4C749D4}"/>
              </a:ext>
            </a:extLst>
          </p:cNvPr>
          <p:cNvSpPr>
            <a:spLocks noGrp="1"/>
          </p:cNvSpPr>
          <p:nvPr>
            <p:ph type="title"/>
          </p:nvPr>
        </p:nvSpPr>
        <p:spPr>
          <a:xfrm>
            <a:off x="118533" y="308882"/>
            <a:ext cx="11328000" cy="432000"/>
          </a:xfrm>
        </p:spPr>
        <p:txBody>
          <a:bodyPr/>
          <a:lstStyle/>
          <a:p>
            <a:r>
              <a:rPr lang="en-US" dirty="0"/>
              <a:t>CONCLUSION</a:t>
            </a:r>
            <a:endParaRPr lang="en-IN" dirty="0"/>
          </a:p>
        </p:txBody>
      </p:sp>
      <p:sp>
        <p:nvSpPr>
          <p:cNvPr id="3" name="Text Placeholder 2">
            <a:extLst>
              <a:ext uri="{FF2B5EF4-FFF2-40B4-BE49-F238E27FC236}">
                <a16:creationId xmlns:a16="http://schemas.microsoft.com/office/drawing/2014/main" id="{2AF7C826-56DD-C63D-F9EA-0FDB8285D139}"/>
              </a:ext>
            </a:extLst>
          </p:cNvPr>
          <p:cNvSpPr>
            <a:spLocks noGrp="1"/>
          </p:cNvSpPr>
          <p:nvPr>
            <p:ph type="body" sz="quarter" idx="32"/>
          </p:nvPr>
        </p:nvSpPr>
        <p:spPr>
          <a:xfrm>
            <a:off x="0" y="923067"/>
            <a:ext cx="11339513" cy="6426000"/>
          </a:xfrm>
        </p:spPr>
        <p:txBody>
          <a:bodyPr/>
          <a:lstStyle/>
          <a:p>
            <a:pPr marL="342900" indent="-342900">
              <a:buFont typeface="Arial" panose="020B0604020202020204" pitchFamily="34" charset="0"/>
              <a:buChar char="•"/>
            </a:pPr>
            <a:r>
              <a:rPr lang="en-US" sz="2000" dirty="0"/>
              <a:t>In conclusion, this project highlights how data analytics can significantly enhance decision-making in the banking sector. By analyzing loan performance, transaction trends, regional distribution, and customer segments, the bank can make smarter, more strategic business decisions.</a:t>
            </a:r>
          </a:p>
          <a:p>
            <a:pPr marL="342900" indent="-342900">
              <a:buFont typeface="Arial" panose="020B0604020202020204" pitchFamily="34" charset="0"/>
              <a:buChar char="•"/>
            </a:pPr>
            <a:r>
              <a:rPr lang="en-US" sz="2000" dirty="0"/>
              <a:t>The findings suggest opportunities for:</a:t>
            </a:r>
          </a:p>
          <a:p>
            <a:pPr marL="342900" indent="-342900">
              <a:buFont typeface="Arial" panose="020B0604020202020204" pitchFamily="34" charset="0"/>
              <a:buChar char="•"/>
            </a:pPr>
            <a:r>
              <a:rPr lang="en-US" sz="2000" dirty="0"/>
              <a:t>Expanding into low-performing regions</a:t>
            </a:r>
          </a:p>
          <a:p>
            <a:pPr marL="342900" indent="-342900">
              <a:buFont typeface="Arial" panose="020B0604020202020204" pitchFamily="34" charset="0"/>
              <a:buChar char="•"/>
            </a:pPr>
            <a:r>
              <a:rPr lang="en-US" sz="2000" dirty="0"/>
              <a:t>Balancing customer segment concentration</a:t>
            </a:r>
          </a:p>
          <a:p>
            <a:pPr marL="342900" indent="-342900">
              <a:buFont typeface="Arial" panose="020B0604020202020204" pitchFamily="34" charset="0"/>
              <a:buChar char="•"/>
            </a:pPr>
            <a:r>
              <a:rPr lang="en-US" sz="2000" dirty="0"/>
              <a:t>Strengthening digital lending strategies</a:t>
            </a:r>
          </a:p>
          <a:p>
            <a:pPr marL="342900" indent="-342900">
              <a:buFont typeface="Arial" panose="020B0604020202020204" pitchFamily="34" charset="0"/>
              <a:buChar char="•"/>
            </a:pPr>
            <a:r>
              <a:rPr lang="en-US" sz="2000" dirty="0"/>
              <a:t>Improving customer retention programs</a:t>
            </a:r>
          </a:p>
          <a:p>
            <a:pPr marL="342900" indent="-342900">
              <a:buFont typeface="Arial" panose="020B0604020202020204" pitchFamily="34" charset="0"/>
              <a:buChar char="•"/>
            </a:pPr>
            <a:r>
              <a:rPr lang="en-US" sz="2000" dirty="0"/>
              <a:t>Enhancing risk management during economic fluctuations</a:t>
            </a:r>
          </a:p>
          <a:p>
            <a:pPr marL="342900" indent="-342900">
              <a:buFont typeface="Arial" panose="020B0604020202020204" pitchFamily="34" charset="0"/>
              <a:buChar char="•"/>
            </a:pPr>
            <a:r>
              <a:rPr lang="en-US" sz="2000" dirty="0"/>
              <a:t>The integration of data management (SQL) and visualization tools (Excel, Tableau, Power BI) ensures accuracy, transparency, and actionable insights.</a:t>
            </a:r>
          </a:p>
          <a:p>
            <a:pPr marL="342900" indent="-342900">
              <a:buFont typeface="Arial" panose="020B0604020202020204" pitchFamily="34" charset="0"/>
              <a:buChar char="•"/>
            </a:pPr>
            <a:r>
              <a:rPr lang="en-US" sz="2000" dirty="0"/>
              <a:t>This project clearly demonstrates that when banking operations are supported by data-driven analysis, institutions can improve profitability, maintain operational balance, enhance customer satisfaction, and ensure long-term financial stability.</a:t>
            </a:r>
            <a:endParaRPr lang="en-IN" sz="2000" dirty="0"/>
          </a:p>
        </p:txBody>
      </p:sp>
      <p:sp>
        <p:nvSpPr>
          <p:cNvPr id="4" name="Footer Placeholder 3">
            <a:extLst>
              <a:ext uri="{FF2B5EF4-FFF2-40B4-BE49-F238E27FC236}">
                <a16:creationId xmlns:a16="http://schemas.microsoft.com/office/drawing/2014/main" id="{92317A04-FF96-16D2-2125-EC0688ACBB06}"/>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B120EDC3-0BC9-BDA0-2D33-31303BC7031B}"/>
              </a:ext>
            </a:extLst>
          </p:cNvPr>
          <p:cNvSpPr>
            <a:spLocks noGrp="1"/>
          </p:cNvSpPr>
          <p:nvPr>
            <p:ph type="sldNum" sz="quarter" idx="33"/>
          </p:nvPr>
        </p:nvSpPr>
        <p:spPr/>
        <p:txBody>
          <a:bodyPr/>
          <a:lstStyle/>
          <a:p>
            <a:fld id="{19B51A1E-902D-48AF-9020-955120F399B6}" type="slidenum">
              <a:rPr lang="en-US" noProof="0" smtClean="0"/>
              <a:pPr/>
              <a:t>12</a:t>
            </a:fld>
            <a:endParaRPr lang="en-US" noProof="0" dirty="0"/>
          </a:p>
        </p:txBody>
      </p:sp>
    </p:spTree>
    <p:extLst>
      <p:ext uri="{BB962C8B-B14F-4D97-AF65-F5344CB8AC3E}">
        <p14:creationId xmlns:p14="http://schemas.microsoft.com/office/powerpoint/2010/main" val="382452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4AAEC-1304-7DA3-E429-E0AC5FB40A7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FC0CDBD-1B30-5EE6-13D9-8940E2AE4FD9}"/>
              </a:ext>
            </a:extLst>
          </p:cNvPr>
          <p:cNvSpPr>
            <a:spLocks noGrp="1"/>
          </p:cNvSpPr>
          <p:nvPr>
            <p:ph type="body" sz="quarter" idx="32"/>
          </p:nvPr>
        </p:nvSpPr>
        <p:spPr/>
        <p:txBody>
          <a:bodyPr/>
          <a:lstStyle/>
          <a:p>
            <a:endParaRPr lang="en-IN"/>
          </a:p>
        </p:txBody>
      </p:sp>
      <p:sp>
        <p:nvSpPr>
          <p:cNvPr id="4" name="Footer Placeholder 3">
            <a:extLst>
              <a:ext uri="{FF2B5EF4-FFF2-40B4-BE49-F238E27FC236}">
                <a16:creationId xmlns:a16="http://schemas.microsoft.com/office/drawing/2014/main" id="{03F66350-1D47-0BD1-16EA-32D2FB4B76F0}"/>
              </a:ext>
            </a:extLst>
          </p:cNvPr>
          <p:cNvSpPr>
            <a:spLocks noGrp="1"/>
          </p:cNvSpPr>
          <p:nvPr>
            <p:ph type="ftr" sz="quarter" idx="12"/>
          </p:nvPr>
        </p:nvSpPr>
        <p:spPr/>
        <p:txBody>
          <a:bodyPr/>
          <a:lstStyle/>
          <a:p>
            <a:r>
              <a:rPr lang="en-US" noProof="0"/>
              <a:t>Add a footer</a:t>
            </a:r>
            <a:endParaRPr lang="en-US" noProof="0" dirty="0"/>
          </a:p>
        </p:txBody>
      </p:sp>
      <p:sp>
        <p:nvSpPr>
          <p:cNvPr id="5" name="Slide Number Placeholder 4">
            <a:extLst>
              <a:ext uri="{FF2B5EF4-FFF2-40B4-BE49-F238E27FC236}">
                <a16:creationId xmlns:a16="http://schemas.microsoft.com/office/drawing/2014/main" id="{3004FA14-7B2A-2F82-72AA-5C996BDD96DE}"/>
              </a:ext>
            </a:extLst>
          </p:cNvPr>
          <p:cNvSpPr>
            <a:spLocks noGrp="1"/>
          </p:cNvSpPr>
          <p:nvPr>
            <p:ph type="sldNum" sz="quarter" idx="33"/>
          </p:nvPr>
        </p:nvSpPr>
        <p:spPr/>
        <p:txBody>
          <a:bodyPr/>
          <a:lstStyle/>
          <a:p>
            <a:fld id="{19B51A1E-902D-48AF-9020-955120F399B6}" type="slidenum">
              <a:rPr lang="en-US" noProof="0" smtClean="0"/>
              <a:pPr/>
              <a:t>13</a:t>
            </a:fld>
            <a:endParaRPr lang="en-US" noProof="0" dirty="0"/>
          </a:p>
        </p:txBody>
      </p:sp>
      <p:pic>
        <p:nvPicPr>
          <p:cNvPr id="7" name="Picture 6">
            <a:extLst>
              <a:ext uri="{FF2B5EF4-FFF2-40B4-BE49-F238E27FC236}">
                <a16:creationId xmlns:a16="http://schemas.microsoft.com/office/drawing/2014/main" id="{965DFE78-2448-F82C-DDBC-159A9204A19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71993582"/>
      </p:ext>
    </p:extLst>
  </p:cSld>
  <p:clrMapOvr>
    <a:masterClrMapping/>
  </p:clrMapOvr>
</p:sld>
</file>

<file path=ppt/theme/theme1.xml><?xml version="1.0" encoding="utf-8"?>
<a:theme xmlns:a="http://schemas.openxmlformats.org/drawingml/2006/main" name="Custom">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675E8371-EC70-4345-8B64-A71003B56298}"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245E38-7A2C-4D38-96FA-24EAC5F220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90D0D0-7C1D-47FF-A2F0-9937AA567A3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8E15EA0-2F38-456B-B156-038699A5D1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Bright business presentation</Template>
  <TotalTime>448</TotalTime>
  <Words>1223</Words>
  <Application>Microsoft Office PowerPoint</Application>
  <PresentationFormat>Widescreen</PresentationFormat>
  <Paragraphs>163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Candara</vt:lpstr>
      <vt:lpstr>Corbel</vt:lpstr>
      <vt:lpstr>Times New Roman</vt:lpstr>
      <vt:lpstr>Custom</vt:lpstr>
      <vt:lpstr>Bank Loan and Debit &amp; Credit</vt:lpstr>
      <vt:lpstr>INTRODUCTION</vt:lpstr>
      <vt:lpstr>MAJOR KPI’s (bank loan data)</vt:lpstr>
      <vt:lpstr>EXCEL DASHBOARD</vt:lpstr>
      <vt:lpstr>INSIGHTS AND SUGGESTIONS.</vt:lpstr>
      <vt:lpstr>TABLEAU DASHBOARD</vt:lpstr>
      <vt:lpstr>INSIGHTS AND SUGGESTIONS.</vt:lpstr>
      <vt:lpstr>POWERBI DASHBOARD</vt:lpstr>
      <vt:lpstr>INSIGHTS AND SUGGESTIONS.</vt:lpstr>
      <vt:lpstr>SQL QUERIES</vt:lpstr>
      <vt:lpstr>SUMMARY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deepti patil</dc:creator>
  <cp:lastModifiedBy>deepti patil</cp:lastModifiedBy>
  <cp:revision>4</cp:revision>
  <dcterms:created xsi:type="dcterms:W3CDTF">2026-02-23T05:22:34Z</dcterms:created>
  <dcterms:modified xsi:type="dcterms:W3CDTF">2026-02-23T13:23:03Z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